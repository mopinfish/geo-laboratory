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**JA（訳・読み上げ可）**</a:t>
            </a:r>
          </a:p>
          <a:p/>
          <a:p>
            <a:r>
              <a:t>こんにちは。まず、この壁を見てください。この崖は自然のものではありません。この島では約400年にわたって花崗岩が切り出されてきました。この壁はその結果のひとつです。底に見える水は、切り出しが止まったあとに溜まったものです。これは私が島で自分で撮った写真です。地図ではありませんし、私の分析の結果でもありません。これから20分間、同じ島を三つの違う縮尺でお見せします。</a:t>
            </a:r>
          </a:p>
          <a:p/>
          <a:p>
            <a:r>
              <a:t>**JA（補足・読み上げない）**</a:t>
            </a:r>
          </a:p>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**JA（訳・読み上げ可）**</a:t>
            </a:r>
          </a:p>
          <a:p/>
          <a:p>
            <a:r>
              <a:t>では、どこの話でしょうか。北木島は瀬戸内海にあります。岡山県笠岡市の島で、笠岡諸島でいちばん大きな島です。</a:t>
            </a:r>
          </a:p>
          <a:p/>
          <a:p>
            <a:r>
              <a:t>この島では17世紀の初めから花崗岩が切り出されてきました。ピークは1957年です。そのとき島には127か所の稼働中の丁場があり、多いときには1万2千人が暮らしていました。今も稼働しているのは2か所で、住民は600人から700人ほどです。</a:t>
            </a:r>
          </a:p>
          <a:p/>
          <a:p>
            <a:r>
              <a:t>ここからがこの発表に関わる部分です。採石をやめた穴の多くは、埋め戻されませんでした。そのいくつかに雨水と地下水が溜まり、池になりました。つまりこの島には、水の溜まった穴がたくさん残っています。しかもそこは、今も人が住み、働き、歩いている場所です。</a:t>
            </a:r>
          </a:p>
          <a:p/>
          <a:p>
            <a:r>
              <a:t>2019年、この島は「石の島」として日本遺産になりました。この認定で、丁場の景観そのものへの関心が高まりました。</a:t>
            </a:r>
          </a:p>
          <a:p/>
          <a:p>
            <a:r>
              <a:t>私の問題はそこから始まりました。私は池のリストを探しました。どこにあるのか。どれくらいの大きさなのか。いくつあるのか。島全体をまとめた池の記録は、見つかりませんでした。</a:t>
            </a:r>
          </a:p>
          <a:p/>
          <a:p>
            <a:r>
              <a:t>この言い方には気をつけたいです。これは私の探し方についての話で、世界についての話ではありません。部分的な記録は存在します。それにはあとで戻ってきます。私が見つけられなかったのは、島全体をひとまとまりとして扱った水域の目録です。</a:t>
            </a:r>
          </a:p>
          <a:p/>
          <a:p>
            <a:r>
              <a:t>**JA（補足・読み上げない）**</a:t>
            </a:r>
          </a:p>
          <a:p/>
          <a:p>
            <a:r>
              <a:t>- 「見つからなかった」は**探索範囲の限定**であって、存在しないという断定ではない。この留保を英語で必ず言う。</a:t>
            </a:r>
          </a:p>
          <a:p>
            <a:r>
              <a:t>- オープンデータに部分的な記録があることは後半で参考として触れる。ここでは「あとで戻る」とだけ言う。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**JA（訳・読み上げ可）**</a:t>
            </a:r>
          </a:p>
          <a:p/>
          <a:p>
            <a:r>
              <a:t>私自身とこの島の話は、今年の3月に始まります。きっかけはドローン・マッピングパーティでした。地図が好きな人たちが二日間集まって、ドローンを飛ばし、見たものを地図に足す催しです。</a:t>
            </a:r>
          </a:p>
          <a:p/>
          <a:p>
            <a:r>
              <a:t>歩いてまず目に入るのは壁です。垂直で、平らで、風化ではなく切られた面だとすぐ分かります。石を割った線も、今も読み取れます。</a:t>
            </a:r>
          </a:p>
          <a:p/>
          <a:p>
            <a:r>
              <a:t>次に目に入るのは水です。緑色です。深く、独特な緑です。公開されている記述では、水深は数メートルから20メートルほどとされています。この数字は記録によるもので、私が測ったものではありません。ふちに立つと、その数字を信じられます。</a:t>
            </a:r>
          </a:p>
          <a:p/>
          <a:p>
            <a:r>
              <a:t>それからステージです。水没した丁場のひとつには、水の上に小さな木のステージが作られています。その前には、石の塊が客席のように並べられています。島ではこの場所を催しの会場として使うこともあります。</a:t>
            </a:r>
          </a:p>
          <a:p/>
          <a:p>
            <a:r>
              <a:t>このスライドで大事な数字は、小さな数字です。私はこの二日間の催しで、5か所か6か所の丁場を訪れました。徒歩か車です。そのときは、たくさん見たつもりでした。この数字を覚えておいてください。あとでまた出てきます。この発表があるのは、本当にこの数字のためです。</a:t>
            </a:r>
          </a:p>
          <a:p/>
          <a:p>
            <a:r>
              <a:t>**JA（補足・読み上げない）**</a:t>
            </a:r>
          </a:p>
          <a:p/>
          <a:p>
            <a:r>
              <a:t>- 水深は報告書由来の記述であり著者の計測値ではない。英語でも "from the record, not from anything I measured" と必ず言う。</a:t>
            </a:r>
          </a:p>
          <a:p>
            <a:r>
              <a:t>- 徒歩スケールで分かるのは**質感**だけ。島全体は見えないという流れを三スケールのスライドへつなぐ。</a:t>
            </a:r>
          </a:p>
          <a:p>
            <a:r>
              <a:t>- 「5〜6か所」は後半の規模対比の伏線。ここで数字を印象づける。移動手段は徒歩または車であり、訪問先を検出ポリゴンへ照合したものでもない。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**JA（訳・読み上げ可）**</a:t>
            </a:r>
          </a:p>
          <a:p/>
          <a:p>
            <a:r>
              <a:t>二日目、私たちは水上のステージからドローンを飛ばしました。すると、島の形が変わって見えました。</a:t>
            </a:r>
          </a:p>
          <a:p/>
          <a:p>
            <a:r>
              <a:t>上空から見ると、丁場は緑の樹冠に切り込まれた灰色の四角形として読めます。まっすぐな縁、直角、とがった角。この島で、こんな形のものは他にありません。</a:t>
            </a:r>
          </a:p>
          <a:p/>
          <a:p>
            <a:r>
              <a:t>思っていなかったのは、その間にあるものです。かつて2つの会社が、隣り合って採石の権利を持っていました。どちらも、その境目を切り崩しませんでした。だから2つの穴の間には、細い花崗岩の壁が立ったまま残っています。所有の境界線が、地形として立っています。書類の上の線が、地形になったのです。</a:t>
            </a:r>
          </a:p>
          <a:p/>
          <a:p>
            <a:r>
              <a:t>これは地上からは見えません。自分はどちらかの穴の中にいるからです。軌道上からも見えません。10メートルでは、壁が細すぎて気づけません。見えるのは上空からだけです。</a:t>
            </a:r>
          </a:p>
          <a:p/>
          <a:p>
            <a:r>
              <a:t>これは私が見て述べていることです。その日の定性的な観察であって、この研究の測定結果ではありません。あの日は、湖の上で測量の飛行もしました。</a:t>
            </a:r>
          </a:p>
          <a:p/>
          <a:p>
            <a:r>
              <a:t>もうひとつ、あの二日間のことを最後にまた取り上げます。同じ催しで、OpenStreetMap に地物を追加しました。地上で見えたものを地図に載せたのです。ただ、それで島全体の目録ができたわけではありません。</a:t>
            </a:r>
          </a:p>
          <a:p/>
          <a:p>
            <a:r>
              <a:t>**JA（補足・読み上げない）**</a:t>
            </a:r>
          </a:p>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最後の一文（島全体のインベントリにはなっていない）は、最終スライドの「地図に還す」への伏線。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be clear about one thing: this is a standard water-index workflow, and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**JA（訳・読み上げ可）**</a:t>
            </a:r>
          </a:p>
          <a:p/>
          <a:p>
            <a:r>
              <a:t>帰りの電車でも、訪れた5、6か所のことを考えていました。島のほんの一部しか見ていない、とも考えていました。島全体を一枚の画像で覆える装置があります。しかも無料です。</a:t>
            </a:r>
          </a:p>
          <a:p/>
          <a:p>
            <a:r>
              <a:t>Sentinel-2 の Level-2A のシーンを、Microsoft Planetary Computer の STAC API から取りました。夏のシーンは2025年8月2日、雲量0.7パーセント、格子10メートルです。</a:t>
            </a:r>
          </a:p>
          <a:p/>
          <a:p>
            <a:r>
              <a:t>はっきりさせます。これは水域指数を使った標準的な手順で、手法として新しいところはありません。3つの指数はどれも単純なバンド演算です。NDWI は緑と近赤外を比べます。MNDWI は緑と短波赤外を比べます。NDVI は近赤外と赤を比べます。水域指数は、どちらか一方でも画素を水として拾えます。そこから NDVI が、植生と印のついた画素を外します。式はスライドに出ています。水域側の閾値は2つとも、ゼロを少し下回ります。マイナス0.2とマイナス0.1です。植生側は0.3です。</a:t>
            </a:r>
          </a:p>
          <a:p/>
          <a:p>
            <a:r>
              <a:t>なぜゼロを下回るのか、気になると思います。理由は画素の大きさです。10メートルでは、細い池は一部が水、一部が花崗岩、一部が影で、一つの画素に混ざります。正の側で厳しく切ると、小さな池や岸際の混ざった画素を落とします。</a:t>
            </a:r>
          </a:p>
          <a:p/>
          <a:p>
            <a:r>
              <a:t>数値はヒストグラムの谷から選びました。最適化も感度分析もしていません。現地で確かめてもいません。短波赤外のバンドは20メートルで届くので、10メートルにリサンプリングしました。報告するのは100平方メートル以上のポリゴンだけです。</a:t>
            </a:r>
          </a:p>
          <a:p/>
          <a:p>
            <a:r>
              <a:t>**JA（補足・読み上げない）**</a:t>
            </a:r>
          </a:p>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a:p>
            <a:r>
              <a:t>- B11（短波赤外）は 20 m から 10 m へのリサンプリングであることを、質疑で問われたら答える。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**JA（訳・読み上げ可）**</a:t>
            </a:r>
          </a:p>
          <a:p/>
          <a:p>
            <a:r>
              <a:t>ひとつのシーン、ひとつの島。出てきたのがこれです。この走査は、島の中で145件の水域ポリゴンを見つけました。どれも100平方メートル以上です。</a:t>
            </a:r>
          </a:p>
          <a:p/>
          <a:p>
            <a:r>
              <a:t>背後には2つのシーンがあります。春は、2025年3月23日のシーンを使いました。報告されている雲量は0.0パーセントでした。私たちが報告したのは113件です。最大は1.28ヘクタールでした。夏のシーンは2025年8月2日で、雲量は0.7パーセントです。返ってきたのは145件でした。最大は7,826平方メートルでした。</a:t>
            </a:r>
          </a:p>
          <a:p/>
          <a:p>
            <a:r>
              <a:t>ここからは正直な話です。報告した2つのシーンには差がありました。ただ、その原因は特定できていません。季節のせいだと言いたくなりますが、私はそう言いません。春の数字は当時報告した値です。その実行の設定は保存されていません。ですから113件は、再現性に限界のある報告値として受け取ってください。</a:t>
            </a:r>
          </a:p>
          <a:p/>
          <a:p>
            <a:r>
              <a:t>ひとつ、意外な結果がありました。緑の水面と緑の樹冠が混同されると考えて、私は植生指数を条件に入れました。ところが NDVI の植生マスクが外したのは、9画素だけでした。9画素です。この結果に足したものはほとんどありませんでした。黙っておくよりは、そう言いたいです。</a:t>
            </a:r>
          </a:p>
          <a:p/>
          <a:p>
            <a:r>
              <a:t>ポリゴンがどこにあるかを見てください。北、南東、中央、西に固まっています。歴史の記録が採石の場所として挙げているところです。1957年のピークには、島に127か所の丁場が記録されていました。私の走査が返したのは145件の検出です。この2つの数字は近いのですが、ここは慎重に言います。これは規模の比較であって、1対1の対応ではありません。私はどの検出も個別の丁場に対応づけていませんし、対応づけられると主張してもいません。</a:t>
            </a:r>
          </a:p>
          <a:p/>
          <a:p>
            <a:r>
              <a:t>持ち帰っていただきたいのは、スライドの下の一行です。これらは検出された水域ポリゴンであって、一件ずつ現地で確認された丁場池ではありません。適合率も再現率も出していません。それを出すための現地検証をしていないからです。画像は、2025年の Copernicus Sentinel データを加工したものです。</a:t>
            </a:r>
          </a:p>
          <a:p/>
          <a:p>
            <a:r>
              <a:t>**JA（補足・読み上げない）**</a:t>
            </a:r>
          </a:p>
          <a:p/>
          <a:p>
            <a:r>
              <a:t>- 春季113は当時の報告値であり、現行パイプラインで同一シーンを再計算すると180件になる（113は未再現）。この数はスライドにも英語の発話にも日本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このスライド単体で2:30以内に収める。押している場合は情景描写ではなく分布の説明を短くする。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**JA（訳・読み上げ可）**</a:t>
            </a:r>
          </a:p>
          <a:p/>
          <a:p>
            <a:r>
              <a:t>ここで少し立ち止まって、三つの縮尺を並べさせてください。これがこの島から得られる本当の教訓だと思うからです。</a:t>
            </a:r>
          </a:p>
          <a:p/>
          <a:p>
            <a:r>
              <a:t>歩いて得られたのは質感です。切られた面、緑色の水、そして深さの感じです。岩に触ることもできました。ただ、一度に立てるのは一か所だけです。</a:t>
            </a:r>
          </a:p>
          <a:p/>
          <a:p>
            <a:r>
              <a:t>上空から得られたのは境界です。2つの会社の間の線が、立ったまま残された岩の壁だと分かりました。それは地上からは見えません。そして軌道上からは、細すぎて意味を持ちません。</a:t>
            </a:r>
          </a:p>
          <a:p/>
          <a:p>
            <a:r>
              <a:t>軌道上から得られたのは分布です。一枚の画像から、島全体で145件の候補が出ました。ただ10メートルでは、壁が切られたものなのか、風化したものなのかは分かりません。</a:t>
            </a:r>
          </a:p>
          <a:p/>
          <a:p>
            <a:r>
              <a:t>この三つに優劣はありません。良い悪いではなく、見えるものが違うのです。そして、いつもひとつの縮尺だけで作業していると、問題の一部しか見ていないかもしれません。</a:t>
            </a:r>
          </a:p>
          <a:p/>
          <a:p>
            <a:r>
              <a:t>**JA（補足・読み上げない）**</a:t>
            </a:r>
          </a:p>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I went looking for an answer to a simple question: how many drowned quarries are on this island? The honest answer I could find was that there is no public island-wide list. Nor does the scan tell us how many drowned quarries exist. It gives 145 water-polygon candidates to prioritise, subject to access, safety and permission. That finite list makes fieldwork possible to plan.</a:t>
            </a:r>
          </a:p>
          <a:p/>
          <a:p>
            <a:r>
              <a:t>**JA（訳・読み上げ可）**</a:t>
            </a:r>
          </a:p>
          <a:p/>
          <a:p>
            <a:r>
              <a:t>2つの数字を並べます。この差がこの発表の主題だからです。マッピングパーティで、5、6か所の丁場の前に立ちました。衛星の1シーンからは、145件の水域ポリゴンが出ました。</a:t>
            </a:r>
          </a:p>
          <a:p/>
          <a:p>
            <a:r>
              <a:t>ただ、私が見た5、6か所が145件のうちの5、6件だと言っているのではありません。訪れた場所を個別のポリゴンに対応づけたことはありません。ですからこれは規模の対比にすぎません。個々の池は現地で確認されていません。適合率も再現率も、まだありません。</a:t>
            </a:r>
          </a:p>
          <a:p/>
          <a:p>
            <a:r>
              <a:t>参考として一点だけ。比較した OpenStreetMap の丁場の地物は、いずれも検出と重なっていました。比較は8月の下旬に取ったもので、参考にすぎません。ただ OpenStreetMap は正解データではありません。重なっても、同じ地物だとは証明できません。ですから一致とは呼びませんし、精度としても報告しません。</a:t>
            </a:r>
          </a:p>
          <a:p/>
          <a:p>
            <a:r>
              <a:t>走査の前、この島に水没した丁場がいくつあるかを探しました。見つけられた正直な答えは、島全体を網羅した公開のリストは無い、でした。走査もまた、いくつあるかは教えません。与えるのは、優先順位を付けるための145件の水域ポリゴン候補です。しかも立ち入り、安全、許可が前提です。この有限のリストがあれば、現地調査を計画できます。</a:t>
            </a:r>
          </a:p>
          <a:p/>
          <a:p>
            <a:r>
              <a:t>**JA（補足・読み上げない）**</a:t>
            </a:r>
          </a:p>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**JA（訳・読み上げ可）**</a:t>
            </a:r>
          </a:p>
          <a:p/>
          <a:p>
            <a:r>
              <a:t>先へ進む前に、この結果の限界をはっきり述べます。</a:t>
            </a:r>
          </a:p>
          <a:p/>
          <a:p>
            <a:r>
              <a:t>まず10メートルの解像度です。幅が10メートルより狭い池は信頼できません。あの島には、細く水の溜まった切り跡があります。次に、ゼロを下回る閾値です。これは暗い岩肌や濃い影を取り込みます。小さな池を残すために払った代償です。そして、適合率も再現率もありません。その数字を出す現地検証をしていないからです。</a:t>
            </a:r>
          </a:p>
          <a:p/>
          <a:p>
            <a:r>
              <a:t>私が検出しているのは水域であって、丁場ではありません。自然の池も水です。農業用のため池も水です。貯水施設も水です。海岸線の近くでは、ポリゴンに海が入ることもあります。私はそれらを分けていません。</a:t>
            </a:r>
          </a:p>
          <a:p/>
          <a:p>
            <a:r>
              <a:t>もうひとつ、さきほど触れたことです。植生は本当の問題になると思っていました。この実行でマスクが変えたのは9画素だけで、この結果に足したものはほとんどありませんでした。</a:t>
            </a:r>
          </a:p>
          <a:p/>
          <a:p>
            <a:r>
              <a:t>次の一手は単純ですが、欠かせません。候補を歩くこと。海岸線が入り込まないように陸域のマスクを足すこと。細い池には、もっと解像度の高い画像を試すこと。どれも新しい手法を必要としません。必要なのは、誰かが行って見ることです。</a:t>
            </a:r>
          </a:p>
          <a:p/>
          <a:p>
            <a:r>
              <a:t>**JA（補足・読み上げない）**</a:t>
            </a:r>
          </a:p>
          <a:p/>
          <a:p>
            <a:r>
              <a:t>- 限界は弁明せず短く言い切る。ここで補足を足すほど弱く聞こえる。</a:t>
            </a:r>
          </a:p>
          <a:p>
            <a:r>
              <a:t>- 冒頭は「次に進む前に限界を明示する」という前置きで入る。11枚版（再訪スライドなしで規模対比の直後）でもそのまま成立する言い方にしてある。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**JA（訳・読み上げ可）**</a:t>
            </a:r>
          </a:p>
          <a:p/>
          <a:p>
            <a:r>
              <a:t>次の一手のために、145件のポリゴンはもうオープンデータです。GeoJSON、EPSG 4326 で公開しています。その気になれば、今日の午後 QGIS で開けます。</a:t>
            </a:r>
          </a:p>
          <a:p/>
          <a:p>
            <a:r>
              <a:t>公開しているのは何でしょうか。検出したポリゴンです。パイプラインは現地調査や遺産記録のためにラスタも書き出しますが、これは出力形式で公開物ではありません。</a:t>
            </a:r>
          </a:p>
          <a:p/>
          <a:p>
            <a:r>
              <a:t>使っているのはオープンソースの Python ライブラリです。Rasterio、NumPy、Shapely などです。ライセンス費用はかからず、画像を買う必要もありません。</a:t>
            </a:r>
          </a:p>
          <a:p/>
          <a:p>
            <a:r>
              <a:t>同じ手順は瀬戸内の他の採石の島にも広げられます。そういう島はいくつもあります。試すときの注意がひとつあります。私の閾値をそのまま持ち込まないでください。あれはこの島、この季節、この水のヒストグラムから出ました。ご自分で導いてください。</a:t>
            </a:r>
          </a:p>
          <a:p/>
          <a:p>
            <a:r>
              <a:t>画像は2025年の Copernicus Sentinel データを加工したもので、成果は CC BY 4.0 です。</a:t>
            </a:r>
          </a:p>
          <a:p/>
          <a:p>
            <a:r>
              <a:t>**JA（補足・読み上げない）**</a:t>
            </a:r>
          </a:p>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4.0）はここと主結果のスライドで口頭にも載せる。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**JA（訳・読み上げ可）**</a:t>
            </a:r>
          </a:p>
          <a:p/>
          <a:p>
            <a:r>
              <a:t>最後に、ひとつの循環をお伝えしたいです。</a:t>
            </a:r>
          </a:p>
          <a:p/>
          <a:p>
            <a:r>
              <a:t>衛星の走査は、分からないものを有限の候補リストに変えます。現地の訪問は、候補を自分の目で見たものに変えます。そして OpenStreetMap は、確かめたものが私の手元のファイルであることをやめて、誰でも使える公共の地図になる場所です。</a:t>
            </a:r>
          </a:p>
          <a:p/>
          <a:p>
            <a:r>
              <a:t>私は、確認できた池を提供する計画です。これは計画だという点を、はっきりさせておきます。まだ実行していません。そして追加するのは、実際に自分がその前に立ったものだけです。</a:t>
            </a:r>
          </a:p>
          <a:p/>
          <a:p>
            <a:r>
              <a:t>3月のマッピングパーティは、地上で観察した地物を追加しました。走査は、次にどこを見るべきかを示します。それが、この考え方の全体です。</a:t>
            </a:r>
          </a:p>
          <a:p/>
          <a:p>
            <a:r>
              <a:t>ありがとうございました。質問をお受けします。</a:t>
            </a:r>
          </a:p>
          <a:p/>
          <a:p>
            <a:r>
              <a:t>**JA（補足・読み上げない）**</a:t>
            </a:r>
          </a:p>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375472" y="2011680"/>
            <a:ext cx="3872336"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598232"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2018504" y="3337560"/>
            <a:ext cx="815499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682856" y="2011680"/>
            <a:ext cx="3806208"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905616"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