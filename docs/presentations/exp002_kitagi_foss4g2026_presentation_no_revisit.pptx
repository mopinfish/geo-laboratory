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a small island.</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mineral, glowing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In front of it, blocks of stone are laid out as seats. The island sometimes uses the place as a venue for events.</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と、座席代わりに並べられた石（湖上イベントの会場として使われることがある）。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a hundred metres up,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a few hundred metres up.</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that nothing in the method is new. I used three indices, and they are all simple band arithmetic. NDWI is built from the green band and the near-infrared band. MNDWI is built from the green band and the short-wave infrared band. NDVI, the vegetation index, is built from the near-infrared band and the red band. A pixel counts as water if NDWI is above minus zero point two, or MNDWI is above minus zero point one, and NDVI is not above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- 3指数の**式の構成は投影しない**（担当者ルーリング）。したがって「何と何から作るか」は英語の発話で必ず言う。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of them at least one hundred square metres.</a:t>
            </a:r>
          </a:p>
          <a:p/>
          <a:p>
            <a:r>
              <a:t>Let me give you both of the scenes I ran. Spring: 2025-03-23, 0.0% cloud — 113 reported polygons, largest 1.28 hectares. Summer: 2025-08-02, 0.7% cloud — 145 polygons, largest 7,826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get confused with each other. The NDVI vegetation mask removed only nine pixels. Nine. My worry was simply wrong, and I would rather tell you that than quietly leave it out.</a:t>
            </a:r>
          </a:p>
          <a:p/>
          <a:p>
            <a:r>
              <a:t>Now look at where the polygons are. They cluster in the north, the south-east, the centre and the west, and that pattern sits on top of where the historical records say the quarrying was. At the peak in 1957 the island had one hundred and twenty-seven recorded quarry sites. My scan returned one hundred and forty-five detections. Those two numbers are close, and I want to be careful here. This is a comparison of scale, and not a one-to-one match. I have not matched detection number one to quarry number one, and I am not claiming that I can.</a:t>
            </a:r>
          </a:p>
          <a:p/>
          <a:p>
            <a:r>
              <a:t>The line at the bottom of the slide is the one I would most like you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必須発話6行はこのスライドの契約事項。時間が押しても削らない。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put the two scales side by side, because this gap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to "how many drowned quarries are on this island" was: nobody knows.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Let me be precise about what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6202680" y="2634870"/>
            <a:ext cx="5486400" cy="3142740"/>
          </a:xfrm>
          <a:prstGeom prst="rect">
            <a:avLst/>
          </a:prstGeom>
        </p:spPr>
      </p:pic>
      <p:sp>
        <p:nvSpPr>
          <p:cNvPr id="4" name="Body"/>
          <p:cNvSpPr txBox="1"/>
          <p:nvPr/>
        </p:nvSpPr>
        <p:spPr>
          <a:xfrm>
            <a:off x="502920" y="2011680"/>
            <a:ext cx="5425440" cy="4389120"/>
          </a:xfrm>
          <a:prstGeom prst="rect">
            <a:avLst/>
          </a:prstGeom>
          <a:noFill/>
        </p:spPr>
        <p:txBody>
          <a:bodyPr wrap="square">
            <a:spAutoFit/>
          </a:bodyPr>
          <a:lstStyle/>
          <a:p>
            <a:pPr algn="l"/>
            <a:r>
              <a:rPr sz="1700" b="0">
                <a:solidFill>
                  <a:srgbClr val="2B2B2B"/>
                </a:solidFill>
              </a:rPr>
              <a:t>Kitagi Island · Kasaoka City, Okayama · Seto Inland Sea</a:t>
            </a:r>
          </a:p>
          <a:p>
            <a:pPr algn="l"/>
            <a:r>
              <a:rPr sz="1700" b="0">
                <a:solidFill>
                  <a:srgbClr val="2B2B2B"/>
                </a:solidFill>
              </a:rPr>
              <a:t>Granite quarried since the early 17th century</a:t>
            </a:r>
          </a:p>
          <a:p>
            <a:pPr algn="l"/>
            <a:r>
              <a:rPr sz="1700" b="0">
                <a:solidFill>
                  <a:srgbClr val="2B2B2B"/>
                </a:solidFill>
              </a:rPr>
              <a:t>127 active quarry sites at the 1957 peak · up to 12,000 residents</a:t>
            </a:r>
          </a:p>
          <a:p>
            <a:pPr algn="l"/>
            <a:r>
              <a:rPr sz="1700" b="0">
                <a:solidFill>
                  <a:srgbClr val="2B2B2B"/>
                </a:solidFill>
              </a:rPr>
              <a:t>Today: two working quarries · about 600–700 residents</a:t>
            </a:r>
          </a:p>
          <a:p>
            <a:pPr algn="l"/>
            <a:r>
              <a:rPr sz="1700" b="0">
                <a:solidFill>
                  <a:srgbClr val="2B2B2B"/>
                </a:solidFill>
              </a:rPr>
              <a:t>Abandoned pits filled with rain and groundwater</a:t>
            </a:r>
          </a:p>
          <a:p>
            <a:pPr algn="l"/>
            <a:r>
              <a:rPr sz="1700" b="0">
                <a:solidFill>
                  <a:srgbClr val="2B2B2B"/>
                </a:solidFill>
              </a:rPr>
              <a:t>National heritage since 2019 — "Stone Islands of Setouchi"</a:t>
            </a:r>
          </a:p>
          <a:p>
            <a:pPr algn="l"/>
            <a:r>
              <a:rPr sz="17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oster_f4_index_panels.png"/>
          <p:cNvPicPr>
            <a:picLocks noChangeAspect="1"/>
          </p:cNvPicPr>
          <p:nvPr/>
        </p:nvPicPr>
        <p:blipFill>
          <a:blip r:embed="rId2"/>
          <a:stretch>
            <a:fillRect/>
          </a:stretch>
        </p:blipFill>
        <p:spPr>
          <a:xfrm>
            <a:off x="6944774" y="2011680"/>
            <a:ext cx="4550851" cy="4389120"/>
          </a:xfrm>
          <a:prstGeom prst="rect">
            <a:avLst/>
          </a:prstGeom>
        </p:spPr>
      </p:pic>
      <p:sp>
        <p:nvSpPr>
          <p:cNvPr id="4" name="Body"/>
          <p:cNvSpPr txBox="1"/>
          <p:nvPr/>
        </p:nvSpPr>
        <p:spPr>
          <a:xfrm>
            <a:off x="502920" y="2011680"/>
            <a:ext cx="6167534"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6997126" y="2011680"/>
            <a:ext cx="4629027" cy="402336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19886"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7419" y="3337560"/>
            <a:ext cx="869716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511424" y="2011680"/>
            <a:ext cx="4149071" cy="3931919"/>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73418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28985" y="3886200"/>
            <a:ext cx="6934030"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