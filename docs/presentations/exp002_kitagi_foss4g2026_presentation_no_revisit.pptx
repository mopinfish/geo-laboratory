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Detecting Quarry Pond Remnants on a Japanese Island Heritage Site Using Sentinel-2 Imagery and Open-Source Remote Sensing Tools</a:t>
            </a:r>
          </a:p>
        </p:txBody>
      </p:sp>
      <p:pic>
        <p:nvPicPr>
          <p:cNvPr id="3" name="Picture1" descr="choba_lake_3.jpg"/>
          <p:cNvPicPr>
            <a:picLocks noChangeAspect="1"/>
          </p:cNvPicPr>
          <p:nvPr/>
        </p:nvPicPr>
        <p:blipFill>
          <a:blip r:embed="rId2"/>
          <a:srcRect l="0" r="0"/>
          <a:stretch>
            <a:fillRect/>
          </a:stretch>
        </p:blipFill>
        <p:spPr>
          <a:xfrm>
            <a:off x="8395594" y="2011680"/>
            <a:ext cx="3293486" cy="4389120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7618354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Noboru Otsuka — Geolonia Inc.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FOSS4G 2026 Hiroshima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2026-09-02 13:30 · Himawari</a:t>
            </a:r>
          </a:p>
        </p:txBody>
      </p:sp>
      <p:sp>
        <p:nvSpPr>
          <p:cNvPr id="5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A quarrying island, and the ponds it left behind</a:t>
            </a:r>
          </a:p>
        </p:txBody>
      </p:sp>
      <p:pic>
        <p:nvPicPr>
          <p:cNvPr id="3" name="Picture1" descr="poster_f1_study_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634870"/>
            <a:ext cx="5486400" cy="3142740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5425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Kitagi Island · Kasaoka City, Okayama · Seto Inland Sea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Granite quarried since the early 17th century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127 active quarry sites at the 1957 peak · up to 12,000 residents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Today: two working quarries · about 600–700 residents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Abandoned pits filled with rain and groundwater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National heritage since 2019 — "Stone Islands of Setouchi"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I found no island-wide record of the ponds themselves.</a:t>
            </a:r>
          </a:p>
        </p:txBody>
      </p:sp>
      <p:sp>
        <p:nvSpPr>
          <p:cNvPr id="5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On foot: I could stand in front of five or six of them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March 2026 — a drone mapping party on the island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Vertical granite walls, cut not weathered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Water in an unusual green; reported depths of a few metres to about twenty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A stage on the water, built from leftover stone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Five or six sites during the event.</a:t>
            </a:r>
          </a:p>
        </p:txBody>
      </p:sp>
      <p:pic>
        <p:nvPicPr>
          <p:cNvPr id="4" name="Picture1" descr="fig01_lake_stage.jpg"/>
          <p:cNvPicPr>
            <a:picLocks noChangeAspect="1"/>
          </p:cNvPicPr>
          <p:nvPr/>
        </p:nvPicPr>
        <p:blipFill>
          <a:blip r:embed="rId2"/>
          <a:srcRect t="43359" b="14453"/>
          <a:stretch>
            <a:fillRect/>
          </a:stretch>
        </p:blipFill>
        <p:spPr>
          <a:xfrm>
            <a:off x="883920" y="3520440"/>
            <a:ext cx="5120640" cy="2880360"/>
          </a:xfrm>
          <a:prstGeom prst="rect">
            <a:avLst/>
          </a:prstGeom>
        </p:spPr>
      </p:pic>
      <p:pic>
        <p:nvPicPr>
          <p:cNvPr id="5" name="Picture2" descr="choba_lake_1.jpg"/>
          <p:cNvPicPr>
            <a:picLocks noChangeAspect="1"/>
          </p:cNvPicPr>
          <p:nvPr/>
        </p:nvPicPr>
        <p:blipFill>
          <a:blip r:embed="rId3"/>
          <a:srcRect t="49123" b="8669"/>
          <a:stretch>
            <a:fillRect/>
          </a:stretch>
        </p:blipFill>
        <p:spPr>
          <a:xfrm>
            <a:off x="6187440" y="3520440"/>
            <a:ext cx="5120640" cy="2880360"/>
          </a:xfrm>
          <a:prstGeom prst="rect">
            <a:avLst/>
          </a:prstGeom>
        </p:spPr>
      </p:pic>
      <p:sp>
        <p:nvSpPr>
          <p:cNvPr id="6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From the air: the quarry boundaries are the landform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Drone flown from the stage on the water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Grey rectangles cut into the green canopy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Between two quarries, a thin wall left standing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A property line, standing as terrain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The same event added features to OpenStreetMap.</a:t>
            </a:r>
          </a:p>
        </p:txBody>
      </p:sp>
      <p:pic>
        <p:nvPicPr>
          <p:cNvPr id="4" name="Picture1" descr="fig06_aerial_quarries.jpg"/>
          <p:cNvPicPr>
            <a:picLocks noChangeAspect="1"/>
          </p:cNvPicPr>
          <p:nvPr/>
        </p:nvPicPr>
        <p:blipFill>
          <a:blip r:embed="rId2"/>
          <a:srcRect t="16002" b="41810"/>
          <a:stretch>
            <a:fillRect/>
          </a:stretch>
        </p:blipFill>
        <p:spPr>
          <a:xfrm>
            <a:off x="883920" y="3520440"/>
            <a:ext cx="5120640" cy="2880360"/>
          </a:xfrm>
          <a:prstGeom prst="rect">
            <a:avLst/>
          </a:prstGeom>
        </p:spPr>
      </p:pic>
      <p:pic>
        <p:nvPicPr>
          <p:cNvPr id="5" name="Picture2" descr="fig05_drone_takeoff.jpg"/>
          <p:cNvPicPr>
            <a:picLocks noChangeAspect="1"/>
          </p:cNvPicPr>
          <p:nvPr/>
        </p:nvPicPr>
        <p:blipFill>
          <a:blip r:embed="rId3"/>
          <a:srcRect t="28906" b="28906"/>
          <a:stretch>
            <a:fillRect/>
          </a:stretch>
        </p:blipFill>
        <p:spPr>
          <a:xfrm>
            <a:off x="6187440" y="3520440"/>
            <a:ext cx="5120640" cy="2880360"/>
          </a:xfrm>
          <a:prstGeom prst="rect">
            <a:avLst/>
          </a:prstGeom>
        </p:spPr>
      </p:pic>
      <p:sp>
        <p:nvSpPr>
          <p:cNvPr id="6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On the train home: one satellite scene covers the whole island</a:t>
            </a:r>
          </a:p>
        </p:txBody>
      </p:sp>
      <p:pic>
        <p:nvPicPr>
          <p:cNvPr id="3" name="Picture1" descr="poster_f4_index_pa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4774" y="2011680"/>
            <a:ext cx="4550851" cy="4389120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6167534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Sentinel-2 L2A via the Microsoft Planetary Computer STAC API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Summer 2025-08-02 · 0.7% cloud · 10 m analysis grid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Water if (NDWI &gt; −0.2 OR MNDWI &gt; −0.1) AND NOT (NDVI &gt; 0.3)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Thresholds below zero: at 10 m a narrow pond is part water, part granite, part shadow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A standard water-index workflow — nothing new in the method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Minimum reported polygon area: 100 m²</a:t>
            </a:r>
          </a:p>
        </p:txBody>
      </p:sp>
      <p:sp>
        <p:nvSpPr>
          <p:cNvPr id="5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The scan found 145 water polygons across the island</a:t>
            </a:r>
          </a:p>
        </p:txBody>
      </p:sp>
      <p:pic>
        <p:nvPicPr>
          <p:cNvPr id="3" name="Picture1" descr="p06_clusters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7126" y="2011680"/>
            <a:ext cx="4629027" cy="4023360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0D47A1"/>
                </a:solidFill>
              </a:rPr>
              <a:t>145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502920" y="3291840"/>
            <a:ext cx="621988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intra-island water polygons ≥ 100 m², summer 2025-08-02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Clustered in the north, south-east, centre and west — consistent with historical quarrying records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145 detections vs 127 recorded quarry sites — a comparison of scale, not a one-to-one match</a:t>
            </a:r>
          </a:p>
          <a:p>
            <a:pPr algn="l"/>
            <a:r>
              <a:rPr sz="1500" b="0">
                <a:solidFill>
                  <a:srgbClr val="2B2B2B"/>
                </a:solidFill>
              </a:rPr>
              <a:t>Spring 2025-03-23 — 113 polygons reported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These are detected water polygons, not individually field-confirmed quarry ponds.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02920" y="6492240"/>
            <a:ext cx="1036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5A564E"/>
                </a:solidFill>
              </a:rPr>
              <a:t>Contains modified Copernicus Sentinel data [2025].</a:t>
            </a:r>
          </a:p>
        </p:txBody>
      </p:sp>
      <p:sp>
        <p:nvSpPr>
          <p:cNvPr id="7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Each scale shows what the others cannot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On foot — texture: the cut face, the water, the depth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From the air — boundaries: property lines standing as rock walls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From orbit — distribution: 145 candidates across the island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Not better or worse. Different things become visible.</a:t>
            </a:r>
          </a:p>
        </p:txBody>
      </p:sp>
      <p:pic>
        <p:nvPicPr>
          <p:cNvPr id="4" name="Picture1" descr="p07_three_sc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419" y="3337560"/>
            <a:ext cx="8697162" cy="3063240"/>
          </a:xfrm>
          <a:prstGeom prst="rect">
            <a:avLst/>
          </a:prstGeom>
        </p:spPr>
      </p:pic>
      <p:sp>
        <p:nvSpPr>
          <p:cNvPr id="5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Five or six sites visited — the scan produced 145 candidates</a:t>
            </a:r>
          </a:p>
        </p:txBody>
      </p:sp>
      <p:pic>
        <p:nvPicPr>
          <p:cNvPr id="3" name="Picture1" descr="p08_visit_anchors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1424" y="2011680"/>
            <a:ext cx="4149071" cy="3931919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0D47A1"/>
                </a:solidFill>
              </a:rPr>
              <a:t>5–6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2697480" y="201168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0D47A1"/>
                </a:solidFill>
              </a:rPr>
              <a:t>145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502920" y="3200400"/>
            <a:ext cx="6734184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Five or six quarry sites visited during the event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145 water polygons detected from one scene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Individual ponds are not field-confirmed — no precision or recall yet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Every quarry feature already mapped in OpenStreetMap overlaps one of the detections (retrieved 2026-08-23, for reference)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The candidates form a finite field-check list.</a:t>
            </a:r>
          </a:p>
        </p:txBody>
      </p:sp>
      <p:sp>
        <p:nvSpPr>
          <p:cNvPr id="7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What this can and cannot tell you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10 m resolution — ponds narrower than about 10 m are unreliable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Thresholds below zero admit dark rock and shadow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No precision or recall — field validation not done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Next: walk the candidates · a land mask for the shoreline · higher-resolution imagery</a:t>
            </a:r>
          </a:p>
        </p:txBody>
      </p:sp>
      <p:sp>
        <p:nvSpPr>
          <p:cNvPr id="4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The 145 polygons are open data now</a:t>
            </a:r>
          </a:p>
        </p:txBody>
      </p:sp>
      <p:pic>
        <p:nvPicPr>
          <p:cNvPr id="3" name="Picture1" descr="poster_qr_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1640" y="2011680"/>
            <a:ext cx="2377440" cy="2377440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85344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Published — 145 detected polygons as GeoJSON · EPSG:4326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Pipeline outputs — GeoJSON and GeoTIFF for fieldwork and heritage documentation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Open-source Python pipeline · no licence fee, no imagery purchase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The same workflow could be extended to other quarried islands in the Seto Inland Sea.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02920" y="6291072"/>
            <a:ext cx="1036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5A564E"/>
                </a:solidFill>
              </a:rPr>
              <a:t>rasterio · numpy · shapely · pystac-client · planetary-computer · folium</a:t>
            </a:r>
          </a:p>
          <a:p>
            <a:pPr algn="l"/>
            <a:r>
              <a:rPr sz="1100">
                <a:solidFill>
                  <a:srgbClr val="5A564E"/>
                </a:solidFill>
              </a:rPr>
              <a:t>Contains modified Copernicus Sentinel data [2025]. Basemaps: GSI Tiles, Geospatial Information Authority of Japan. CC BY 4.0.</a:t>
            </a:r>
          </a:p>
        </p:txBody>
      </p:sp>
      <p:sp>
        <p:nvSpPr>
          <p:cNvPr id="6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Check them on the ground, then put them on the map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Satellite scan → a finite candidate list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Field visit → see it with your own eyes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OpenStreetMap → put what you confirmed on the public map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I plan to contribute the ponds I can confirm.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The March mapping party added features observed on the ground. The scan suggests where to look next.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Thank you · Q&amp;A</a:t>
            </a:r>
          </a:p>
        </p:txBody>
      </p:sp>
      <p:pic>
        <p:nvPicPr>
          <p:cNvPr id="4" name="Picture1" descr="p12_loop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8985" y="3886200"/>
            <a:ext cx="6934030" cy="2514600"/>
          </a:xfrm>
          <a:prstGeom prst="rect">
            <a:avLst/>
          </a:prstGeom>
        </p:spPr>
      </p:pic>
      <p:sp>
        <p:nvSpPr>
          <p:cNvPr id="5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Detecting Quarry Pond Remnants on a Japanese Island Heritage Site Using Sentinel-2 Imagery and Open-Source Remote Sensing Tools</dc:title>
  <dc:subject/>
  <dc:creator>geo-laboratory exp002</dc:creator>
  <cp:keywords/>
  <dc:description>generated using python-pptx</dc:description>
  <cp:lastModifiedBy>exp002_kitagi_foss4g2026_presentation.py</cp:lastModifiedBy>
  <cp:revision>1</cp:revision>
  <dcterms:created xsi:type="dcterms:W3CDTF">2026-01-01T00:00:00Z</dcterms:created>
  <dcterms:modified xsi:type="dcterms:W3CDTF">2026-01-01T00:00:00Z</dcterms:modified>
  <cp:category/>
</cp:coreProperties>
</file>