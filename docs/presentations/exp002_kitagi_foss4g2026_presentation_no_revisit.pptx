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cut it, block by block, for about four hundred years.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「この崖は自然のものではない」から入る。人が約400年かけて切り出した面で、水はその後に溜まったもの。写真は著者が現地で撮影したもので、検出結果の図ではない。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When a quarry stops, nobody fills the pit back in. Rain and groundwater arrive instead, and the pit becomes a pond. So the island is left with a large number of flooded holes, in a landscape where people still live, still work, and still walk around.</a:t>
            </a:r>
          </a:p>
          <a:p/>
          <a:p>
            <a:r>
              <a:t>In 2019 the island became national heritage, as one of the "Stone Islands of Setouchi". Heritage means visitors come to look at exactly these places.</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に雨水と地下水が溜まって池になる。2019年に日本遺産「石の島」認定。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Not the green of a dirty pond — a strange, deep, mineral green. The published descriptions give depths from a few metres to about twenty metres. That figure comes from the record, not from anything I measured. Standing at the edge, you believe it.</a:t>
            </a:r>
          </a:p>
          <a:p/>
          <a:p>
            <a:r>
              <a:t>And then there is the stage. One of the flooded quarries has a stage built out on the water, made from the stone that was left behind. In front of it, blocks of stone are laid out as seats. The island sometimes uses the place as a venue for events.</a:t>
            </a:r>
          </a:p>
          <a:p/>
          <a:p>
            <a:r>
              <a:t>Now, the important number on this slide is a small one. Five or six sites during the event. That is how many quarry ponds I stood in front of, in two days, on foot.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緑がかった水面、数メートル〜約20メートルとされる水深、余った石材で作られた湖上ステージと、座席代わりに並べられた石（湖上イベントの会場として使われることがある）。イベント中に立ったのは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a few hundred metres up.</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Which means the map got better in exactly the places where we happened to walk, and nowhere else.</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最後の一文（歩いた場所しか良くならない）はS12の「地図に還す」への伏線。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nothing in the method is new. I used three indices, all of them simple band arithmetic. NDWI is built from the green band and the near-infrared band. MNDWI is built from the green band and the short-wave infrared band. NDVI, the vegetation index, is built from the near-infrared band and the red band. The rule that combines them is simple, and the exact expression is on the slide. A pixel counts as water when either water index is high enough on its own, unless the vegetation index marks that pixel as vegetation.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throws the small ponds away.</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In spring, on the twenty-third of March 2025, the scene had no cloud at all; we reported one hundred and thirteen polygons, and the largest of them was one point two eight hectares. In summer, on the second of August 2025, cloud was zero point seven percent; the scan returned one hundred and forty-five polygons, and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read the spring number as a note from my logbook, and not as a measurement you can stand on.</a:t>
            </a:r>
          </a:p>
          <a:p/>
          <a:p>
            <a:r>
              <a:t>One result did surprise me. I put the vegetation index into the rule because I expected green water and green canopy to be confused. The NDVI vegetation mask removed only nine pixels. Nine. My worry was simply wrong,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仮説の棄却）。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will be very confident about the wrong shape of the problem.</a:t>
            </a:r>
          </a:p>
          <a:p/>
          <a:p>
            <a:r>
              <a:t>**JA (not spoken)** — 訳と補足。読み上げない。</a:t>
            </a:r>
          </a:p>
          <a:p/>
          <a:p>
            <a:r>
              <a:t>- 訳: 徒歩＝質感、上空＝境界、衛星＝分布。三つは優劣ではなく別のものを見せる。ひとつの縮尺だけで作業すると、問題の形を取り違えたまま確信を持ってしまう。</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I could find to "how many drowned quarries are on this island" was that there is no public island-wide list. After the scan, the answer is: here are 145 places to go and look. The candidates form a finite field-check list. And a finite list is something a small group of people can actually work through.</a:t>
            </a:r>
          </a:p>
          <a:p/>
          <a:p>
            <a:r>
              <a:t>**JA (not spoken)** — 訳と補足。読み上げない。</a:t>
            </a:r>
          </a:p>
          <a:p/>
          <a:p>
            <a:r>
              <a:t>- 訳: 訪問5〜6か所に対し、1シーンから145件の検出。走査の前に見つけられた答えは「島全体を網羅した公開リストは無い」であり、走査の後は「見に行くべき145か所がある」になる。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should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The vegetation mask removed only nine pixels. I had expected vegetation to be a real problem, and it was not, so my mental model of the failure mode was wrong.</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が9ピクセルのみだったことは、当初の想定が外れたことを示す。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6202680" y="2634870"/>
            <a:ext cx="5486400" cy="3142740"/>
          </a:xfrm>
          <a:prstGeom prst="rect">
            <a:avLst/>
          </a:prstGeom>
        </p:spPr>
      </p:pic>
      <p:sp>
        <p:nvSpPr>
          <p:cNvPr id="4" name="Body"/>
          <p:cNvSpPr txBox="1"/>
          <p:nvPr/>
        </p:nvSpPr>
        <p:spPr>
          <a:xfrm>
            <a:off x="502920" y="2011680"/>
            <a:ext cx="5425440" cy="4389120"/>
          </a:xfrm>
          <a:prstGeom prst="rect">
            <a:avLst/>
          </a:prstGeom>
          <a:noFill/>
        </p:spPr>
        <p:txBody>
          <a:bodyPr wrap="square">
            <a:spAutoFit/>
          </a:bodyPr>
          <a:lstStyle/>
          <a:p>
            <a:pPr algn="l"/>
            <a:r>
              <a:rPr sz="1700" b="0">
                <a:solidFill>
                  <a:srgbClr val="2B2B2B"/>
                </a:solidFill>
              </a:rPr>
              <a:t>Kitagi Island · Kasaoka City, Okayama · Seto Inland Sea</a:t>
            </a:r>
          </a:p>
          <a:p>
            <a:pPr algn="l"/>
            <a:r>
              <a:rPr sz="1700" b="0">
                <a:solidFill>
                  <a:srgbClr val="2B2B2B"/>
                </a:solidFill>
              </a:rPr>
              <a:t>Granite quarried since the early 17th century</a:t>
            </a:r>
          </a:p>
          <a:p>
            <a:pPr algn="l"/>
            <a:r>
              <a:rPr sz="1700" b="0">
                <a:solidFill>
                  <a:srgbClr val="2B2B2B"/>
                </a:solidFill>
              </a:rPr>
              <a:t>127 active quarry sites at the 1957 peak · up to 12,000 residents</a:t>
            </a:r>
          </a:p>
          <a:p>
            <a:pPr algn="l"/>
            <a:r>
              <a:rPr sz="1700" b="0">
                <a:solidFill>
                  <a:srgbClr val="2B2B2B"/>
                </a:solidFill>
              </a:rPr>
              <a:t>Today: two working quarries · about 600–700 residents</a:t>
            </a:r>
          </a:p>
          <a:p>
            <a:pPr algn="l"/>
            <a:r>
              <a:rPr sz="1700" b="0">
                <a:solidFill>
                  <a:srgbClr val="2B2B2B"/>
                </a:solidFill>
              </a:rPr>
              <a:t>Abandoned pits filled with rain and groundwater</a:t>
            </a:r>
          </a:p>
          <a:p>
            <a:pPr algn="l"/>
            <a:r>
              <a:rPr sz="1700" b="0">
                <a:solidFill>
                  <a:srgbClr val="2B2B2B"/>
                </a:solidFill>
              </a:rPr>
              <a:t>National heritage since 2019 — "Stone Islands of Setouchi"</a:t>
            </a:r>
          </a:p>
          <a:p>
            <a:pPr algn="l"/>
            <a:r>
              <a:rPr sz="17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stage on the water, built from leftover stone</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oster_f4_index_panels.png"/>
          <p:cNvPicPr>
            <a:picLocks noChangeAspect="1"/>
          </p:cNvPicPr>
          <p:nvPr/>
        </p:nvPicPr>
        <p:blipFill>
          <a:blip r:embed="rId2"/>
          <a:stretch>
            <a:fillRect/>
          </a:stretch>
        </p:blipFill>
        <p:spPr>
          <a:xfrm>
            <a:off x="6944774" y="2011680"/>
            <a:ext cx="4550851" cy="4389120"/>
          </a:xfrm>
          <a:prstGeom prst="rect">
            <a:avLst/>
          </a:prstGeom>
        </p:spPr>
      </p:pic>
      <p:sp>
        <p:nvSpPr>
          <p:cNvPr id="4" name="Body"/>
          <p:cNvSpPr txBox="1"/>
          <p:nvPr/>
        </p:nvSpPr>
        <p:spPr>
          <a:xfrm>
            <a:off x="502920" y="2011680"/>
            <a:ext cx="6167534"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6997126" y="2011680"/>
            <a:ext cx="4629027" cy="402336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19886"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7419" y="3337560"/>
            <a:ext cx="8697162"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511424" y="2011680"/>
            <a:ext cx="4149071" cy="3931919"/>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734184"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28985" y="3886200"/>
            <a:ext cx="6934030"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