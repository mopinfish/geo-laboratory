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deep, mineral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In front of it, blocks of stone are laid out as seats. The island sometimes uses the place as a venue for events.</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と、座席代わりに並べられた石（湖上イベントの会場として使われることがある）。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a few hundred metres up.</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be confused. The NDVI vegetation mask removed only nine pixels. Nine. My worry was simply wrong,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走査の前に見つけられた答えは「島全体を網羅した公開リストは無い」であり、走査の後は「見に行くべき145か所がある」にな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the candidates a person can actually reach.</a:t>
            </a:r>
          </a:p>
          <a:p/>
          <a:p>
            <a:r>
              <a:t>The photographs in these slots are illustrative field photographs.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 (not spoken)** — 訳と補足。読み上げない。</a:t>
            </a:r>
          </a:p>
          <a:p/>
          <a:p>
            <a:r>
              <a:t>- 訳: 8月31日の再訪スライド。これは現地確認の開始であって精度検証ではない。公開済み145件は各候補の座標と面積を持つため候補リストは容易に作れるが、訪問先は面積順位ではなく安全・立入許可・到達可能性で決める。写真は illustrative であり、候補を歴史記録上の丁場として同定するものでも、正誤を集計するものでもない。3月は島が見せるものを見たが、今回はリストが先にある。</a:t>
            </a:r>
          </a:p>
          <a:p>
            <a:r>
              <a:t>- **[UPDATE AFTER 2026-08-31]** 再訪の実施後にこのスライドを見直す。英語本文は再訪前に書いたため、まだ起きていない出来事・情景・感想を語らず、候補の選び方と写真が示す範囲、そして留保だけで構成してある。写真が確定したら、実際に写っているものに合わせて英語本文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6202680" y="2634870"/>
            <a:ext cx="5486400" cy="3142740"/>
          </a:xfrm>
          <a:prstGeom prst="rect">
            <a:avLst/>
          </a:prstGeom>
        </p:spPr>
      </p:pic>
      <p:sp>
        <p:nvSpPr>
          <p:cNvPr id="4" name="Body"/>
          <p:cNvSpPr txBox="1"/>
          <p:nvPr/>
        </p:nvSpPr>
        <p:spPr>
          <a:xfrm>
            <a:off x="502920" y="2011680"/>
            <a:ext cx="5425440" cy="4389120"/>
          </a:xfrm>
          <a:prstGeom prst="rect">
            <a:avLst/>
          </a:prstGeom>
          <a:noFill/>
        </p:spPr>
        <p:txBody>
          <a:bodyPr wrap="square">
            <a:spAutoFit/>
          </a:bodyPr>
          <a:lstStyle/>
          <a:p>
            <a:pPr algn="l"/>
            <a:r>
              <a:rPr sz="1700" b="0">
                <a:solidFill>
                  <a:srgbClr val="2B2B2B"/>
                </a:solidFill>
              </a:rPr>
              <a:t>Kitagi Island · Kasaoka City, Okayama · Seto Inland Sea</a:t>
            </a:r>
          </a:p>
          <a:p>
            <a:pPr algn="l"/>
            <a:r>
              <a:rPr sz="1700" b="0">
                <a:solidFill>
                  <a:srgbClr val="2B2B2B"/>
                </a:solidFill>
              </a:rPr>
              <a:t>Granite quarried since the early 17th century</a:t>
            </a:r>
          </a:p>
          <a:p>
            <a:pPr algn="l"/>
            <a:r>
              <a:rPr sz="1700" b="0">
                <a:solidFill>
                  <a:srgbClr val="2B2B2B"/>
                </a:solidFill>
              </a:rPr>
              <a:t>127 active quarry sites at the 1957 peak · up to 12,000 residents</a:t>
            </a:r>
          </a:p>
          <a:p>
            <a:pPr algn="l"/>
            <a:r>
              <a:rPr sz="1700" b="0">
                <a:solidFill>
                  <a:srgbClr val="2B2B2B"/>
                </a:solidFill>
              </a:rPr>
              <a:t>Today: two working quarries · about 600–700 residents</a:t>
            </a:r>
          </a:p>
          <a:p>
            <a:pPr algn="l"/>
            <a:r>
              <a:rPr sz="1700" b="0">
                <a:solidFill>
                  <a:srgbClr val="2B2B2B"/>
                </a:solidFill>
              </a:rPr>
              <a:t>Abandoned pits filled with rain and groundwater</a:t>
            </a:r>
          </a:p>
          <a:p>
            <a:pPr algn="l"/>
            <a:r>
              <a:rPr sz="1700" b="0">
                <a:solidFill>
                  <a:srgbClr val="2B2B2B"/>
                </a:solidFill>
              </a:rPr>
              <a:t>National heritage since 2019 — "Stone Islands of Setouchi"</a:t>
            </a:r>
          </a:p>
          <a:p>
            <a:pPr algn="l"/>
            <a:r>
              <a:rPr sz="17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oster_f4_index_panels.png"/>
          <p:cNvPicPr>
            <a:picLocks noChangeAspect="1"/>
          </p:cNvPicPr>
          <p:nvPr/>
        </p:nvPicPr>
        <p:blipFill>
          <a:blip r:embed="rId2"/>
          <a:stretch>
            <a:fillRect/>
          </a:stretch>
        </p:blipFill>
        <p:spPr>
          <a:xfrm>
            <a:off x="6944774" y="2011680"/>
            <a:ext cx="4550851" cy="4389120"/>
          </a:xfrm>
          <a:prstGeom prst="rect">
            <a:avLst/>
          </a:prstGeom>
        </p:spPr>
      </p:pic>
      <p:sp>
        <p:nvSpPr>
          <p:cNvPr id="4" name="Body"/>
          <p:cNvSpPr txBox="1"/>
          <p:nvPr/>
        </p:nvSpPr>
        <p:spPr>
          <a:xfrm>
            <a:off x="502920" y="2011680"/>
            <a:ext cx="6167534"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6997126" y="2011680"/>
            <a:ext cx="4629027" cy="402336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19886"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7419" y="3337560"/>
            <a:ext cx="869716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511424" y="2011680"/>
            <a:ext cx="4149071" cy="3931919"/>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73418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28985" y="3886200"/>
            <a:ext cx="6934030"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