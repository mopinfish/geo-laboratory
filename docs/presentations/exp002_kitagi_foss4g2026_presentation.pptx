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Before anything else, please look at the wall in this picture. This cliff is not natural. People have quarried granite on this island for about four hundred years; this wall is one result. The water at the bottom arrived later, after the cutting stopped. This is a photograph I took on the island myself. It is not a map, and it is not a result from my analysis. My name is Noboru Otsuka, and I work at Geolonia. For the next twenty minutes I will show you the same island at three different scales.</a:t>
            </a:r>
          </a:p>
          <a:p/>
          <a:p>
            <a:r>
              <a:t>**JA (not spoken)** — 訳と補足。読み上げない。</a:t>
            </a:r>
          </a:p>
          <a:p/>
          <a:p>
            <a:r>
              <a:t>- 訳: 「この崖は自然のものではない」から入る。この島では約400年にわたり花崗岩が切り出されてきており、この壁はその結果のひとつ。水はその後に溜まったもの。写真は著者が現地で撮影したもので、検出結果の図ではない。</a:t>
            </a:r>
          </a:p>
          <a:p>
            <a:r>
              <a:t>- 冒頭の一言は「この崖は自然のものではない」に固定する。ここで手法の話をしない。</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は埋め戻されないものが多く、一部に雨水と地下水が溜まって池になった。2019年に日本遺産「石の島」認定により、丁場の景観そのものへの関心が高まった。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深く独特な緑の水面、数メートル〜約20メートルとされる水深、湖上に設えられた木製の小さなステージと、座席代わりに並べられた石（湖上イベントの会場として使われることがある）。イベント中に訪れたのは徒歩または車で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Where two companies held quarrying rights next to each other, neither side cut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 (not spoken)** — 訳と補足。読み上げない。</a:t>
            </a:r>
          </a:p>
          <a:p/>
          <a:p>
            <a:r>
              <a:t>- 訳: 2日目に湖上ステージからドローンを飛ばした。上空からは緑の樹冠に切り込まれた灰色の矩形として見える。隣接する採石権者の境界は切削されず、細い花崗岩の壁として残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ponds I had seen, and about all the ones I had not. There is one instrument that covers the whole island in a single frame, and it is free to use.</a:t>
            </a:r>
          </a:p>
          <a:p/>
          <a:p>
            <a:r>
              <a:t>I used Sentinel-2, level 2A, pulled through the Microsoft Planetary Computer STAC API. One summer scene, the second of August 2025, with zero point seven percent cloud, on a ten metre grid.</a:t>
            </a:r>
          </a:p>
          <a:p/>
          <a:p>
            <a:r>
              <a:t>I want to say clearly that this is a standard water-index workflow, and nothing in the method is new. I used three indices, all of them simple band arithmetic. NDWI is built from the green band and the near-infrared band. MNDWI is built from the green band and the short-wave infrared band. NDVI, the vegetation index, is built from the near-infrared band and the red band. The rule that combines them is simple, and the exact expression is on the slide. A pixel counts as water when either water index is high enough on its own, unless the vegetation index marks that pixel as vegetation.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を Microsoft Planetary Computer の STAC API 経由で取得。2025年8月2日・雲量0.7%・10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In spring, on the twenty-third of March 2025, the scene had no cloud at all; we reported one hundred and thirteen polygons, and the largest of them was one point two eight hectares. In summer, on the second of August 2025, cloud was zero point seven percent; the scan returned one hundred and forty-five polygons, and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My worry was simply wrong,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2025-03-23・雲量0.0%・報告113件・最大1.28 ha、夏季 2025-08-02・雲量0.7%・145件・最大7,826 m²。両者は差があるが原因は特定できていない。春季値は当時の報告値で実行設定が保存されていない。NDVIマスクの除外は9ピクセルのみ（仮説の棄却）。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 (not spoken)** — 訳と補足。読み上げない。</a:t>
            </a:r>
          </a:p>
          <a:p/>
          <a:p>
            <a:r>
              <a:t>- 訳: 徒歩＝質感、上空＝境界、衛星＝分布。三つは優劣ではなく別のものを見せる。ひとつの縮尺だけで作業すると、問題の一部しか見えていない可能性がある。</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I can offer you one reference point. Every quarry feature that is already mapped in OpenStreetMap overlaps one of my detections. I pulled that comparison in late August, and I am showing it as a reference, not as ground truth. OpenStreetMap is not an accuracy benchmark, and an overlap does not mean the two records describe the same feature. So I will not call it agreement, and I will not turn it into a percentage.</a:t>
            </a:r>
          </a:p>
          <a:p/>
          <a:p>
            <a:r>
              <a:t>What I do have is something I find more useful than a percentage. Before the scan, the honest answer I could find to "how many drowned quarries are on this island" was that there is no public island-wide list. The scan does not answer that question either. What it gives me is one hundred and forty-five water-polygon candidates to prioritise for field checking, subject to access, safety and permission. The candidates form a finite field-check list, and that is what makes the next step possible to plan.</a:t>
            </a:r>
          </a:p>
          <a:p/>
          <a:p>
            <a:r>
              <a:t>**JA (not spoken)** — 訳と補足。読み上げない。</a:t>
            </a:r>
          </a:p>
          <a:p/>
          <a:p>
            <a:r>
              <a:t>- 訳: 訪問5〜6か所に対し、1シーンから145件の検出。走査の前に見つけられた答えは「島全体を網羅した公開リストは無い」であり、走査もその問いには答えない。得られるのは、立入可否・安全・許可を前提に現地確認の優先順位を付けるための水域ポリゴン候補145件である。訪問地点を個別ポリゴンに照合した記録はないため、これは規模の対比にとどまる。個別の池は現地確認されておらず、精度指標もない。OSMに既に登録済みの丁場地物はいずれも検出と重なるが、これは参考値であって正解データではない。重なりは同一地物の同定を意味しない。候補は有限の現地確認リストにな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return visit to the island, on the thirty-first of August. I want to be very clear about what it is and what it is not. It is a first look. It is not validation.</a:t>
            </a:r>
          </a:p>
          <a:p/>
          <a:p>
            <a:r>
              <a:t>Here is how I choose where to go. The published set of one hundred and forty-five polygons carries a coordinate and an area for every candidate, so a short list is easy to build. But area ranking is not what decides the route. On a working quarry island, safety, permission, and simply being able to walk to a place matter more than which pond is the largest. So these points are not a sample designed for accuracy. They are candidates selected for an attempted field visit.</a:t>
            </a:r>
          </a:p>
          <a:p/>
          <a:p>
            <a:r>
              <a:t>The photographs in these slots are there to illustrate the candidates, not to validate accuracy. They are meant to show what the scan pointed at, seen from the ground, and nothing beyond that. No candidate here is identified as a specific quarry from the historical record, and there is no count of how many candidates were right and how many were wrong. There are no accuracy numbers on this slide, and a day of photographs would never produce any.</a:t>
            </a:r>
          </a:p>
          <a:p/>
          <a:p>
            <a:r>
              <a:t>What a visit like this changes is not a number. Walking to a place because a satellite pointed at it is a very different way of working from wandering around and finding a pond by accident. In March, the island decided what I saw. This time the list comes first, and the list comes out of open data and open-source code. That is the part of this work that travels to other islands.</a:t>
            </a:r>
          </a:p>
          <a:p/>
          <a:p>
            <a:r>
              <a:t>**JA (not spoken)** — 訳と補足。読み上げない。</a:t>
            </a:r>
          </a:p>
          <a:p/>
          <a:p>
            <a:r>
              <a:t>- 訳: 8月31日の再訪スライド。これは現地確認の開始であって精度検証ではない。公開済み145件は各候補の座標と面積を持つため候補リストは容易に作れるが、訪問先は面積順位ではなく安全・立入許可・到達可能性で決める。これらは訪問を試みる対象として選んだ候補であり、到達できることが事前に確認されているわけではない。写真は illustrative であり、候補を歴史記録上の丁場として同定するものでも、正誤を集計するものでもない。3月は島が見せるものを見たが、今回はリストが先にある。</a:t>
            </a:r>
          </a:p>
          <a:p>
            <a:r>
              <a:t>- **[UPDATE AFTER 2026-08-31]** 再訪の実施後にこのスライドを見直す。英語本文は再訪前に書いたため、まだ起きていない出来事・情景・感想を語らず、候補の選び方と写真が示す範囲、そして留保だけで構成してある。写真が確定したら、実際に写っているものに合わせて英語本文を書き直す。</a:t>
            </a:r>
          </a:p>
          <a:p>
            <a:r>
              <a:t>- 写真が未撮影・差し替え前の場合は、このスライドを削除した11枚版を使う。既存写真での代替はしない。</a:t>
            </a:r>
          </a:p>
          <a:p>
            <a:r>
              <a:t>- 「候補地点に水があった」といった正誤の含意を語らない。写真は候補地点の存在を示すのみ。</a:t>
            </a:r>
          </a:p>
          <a:p>
            <a:r>
              <a:t>- サンプリング設計された accuracy validation ではないことを英語で必ず言う。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should be explicit about where this breaks.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simple and boring.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はこの実行では9ピクセルのみで、この結果への寄与は小さかった。次の一手は候補の踏査・海岸線用の陸域マスク・高分解能画像。</a:t>
            </a:r>
          </a:p>
          <a:p>
            <a:r>
              <a:t>- 限界は弁明せず短く言い切る。ここで補足を足すほど弱く聞こえる。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whole pipeline is open-source Python: rasterio, numpy, shapely, pystac-client, planetary-computer and folium. No licence fee. No imagery purchase.</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145件は GeoJSON（EPSG:4326）として公開済み。パイプラインは現地調査・遺産記録向けにラスタ出力も生成するが、こちらは出力仕様であって公開物ではない。実装はOSSのPythonのみ（rasterio, numpy, shapely, pystac-client, planetary-computer, folium）。ライセンス費・画像購入費は不要。瀬戸内の他の採石島へ展開可能だが、閾値はそのまま持ち込めない。</a:t>
            </a:r>
          </a:p>
          <a:p>
            <a:r>
              <a:t>- 公開物（GeoJSON）とパイプライン出力（GeoTIFF）を混同しない。この区別を英語で必ず言う。</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071040" y="2011680"/>
            <a:ext cx="4481199"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93800"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0088" y="3337560"/>
            <a:ext cx="8711823"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807099" y="2011680"/>
            <a:ext cx="3557721"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7029859"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Two days ago I went back — a first look, not validation</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2026-08-31 — return visit</a:t>
            </a:r>
          </a:p>
          <a:p>
            <a:pPr algn="l"/>
            <a:r>
              <a:rPr sz="1700" b="0">
                <a:solidFill>
                  <a:srgbClr val="2B2B2B"/>
                </a:solidFill>
              </a:rPr>
              <a:t>Candidates selected from the published GeoJSON</a:t>
            </a:r>
          </a:p>
          <a:p>
            <a:pPr algn="l"/>
            <a:r>
              <a:rPr sz="1700" b="0">
                <a:solidFill>
                  <a:srgbClr val="2B2B2B"/>
                </a:solidFill>
              </a:rPr>
              <a:t>Illustrative field photographs — not accuracy validation</a:t>
            </a:r>
          </a:p>
          <a:p>
            <a:pPr algn="l"/>
            <a:r>
              <a:rPr sz="1700" b="0">
                <a:solidFill>
                  <a:srgbClr val="2B2B2B"/>
                </a:solidFill>
              </a:rPr>
              <a:t>What the scan pointed at, seen from the ground.</a:t>
            </a:r>
          </a:p>
        </p:txBody>
      </p:sp>
      <p:pic>
        <p:nvPicPr>
          <p:cNvPr id="4" name="Picture1" descr="placeholder_revisit_1.png"/>
          <p:cNvPicPr>
            <a:picLocks noChangeAspect="1"/>
          </p:cNvPicPr>
          <p:nvPr/>
        </p:nvPicPr>
        <p:blipFill>
          <a:blip r:embed="rId2"/>
          <a:stretch>
            <a:fillRect/>
          </a:stretch>
        </p:blipFill>
        <p:spPr>
          <a:xfrm>
            <a:off x="883920" y="3520440"/>
            <a:ext cx="5120640" cy="2880360"/>
          </a:xfrm>
          <a:prstGeom prst="rect">
            <a:avLst/>
          </a:prstGeom>
        </p:spPr>
      </p:pic>
      <p:pic>
        <p:nvPicPr>
          <p:cNvPr id="5" name="Picture2" descr="placeholder_revisit_1.png"/>
          <p:cNvPicPr>
            <a:picLocks noChangeAspect="1"/>
          </p:cNvPicPr>
          <p:nvPr/>
        </p:nvPicPr>
        <p:blipFill>
          <a:blip r:embed="rId2"/>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