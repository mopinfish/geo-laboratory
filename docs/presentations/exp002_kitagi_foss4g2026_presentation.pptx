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Before anything else, please look at the wall in this picture. This cliff is not natural. People cut it, block by block, for about four hundred years. The water at the bottom arrived later, after the cutting stopped. This is a photograph I took on the island myself. It is not a map, and it is not a result from my analysis. My name is Noboru Otsuka, and I work at Geolonia. For the next twenty minutes I will show you the same island at three different scales.</a:t>
            </a:r>
          </a:p>
          <a:p/>
          <a:p>
            <a:r>
              <a:t>**JA (not spoken)** — 訳と補足。読み上げない。</a:t>
            </a:r>
          </a:p>
          <a:p/>
          <a:p>
            <a:r>
              <a:t>- 訳: 「この崖は自然のものではない」から入る。人が約400年かけて切り出した面で、水はその後に溜まったもの。写真は著者が現地で撮影したもので、検出結果の図ではない。</a:t>
            </a:r>
          </a:p>
          <a:p>
            <a:r>
              <a:t>- 冒頭の一言は「この崖は自然のものではない」に固定する。ここで手法の話をしない。</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a small island. You can walk across it in a morning.</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When a quarry stops, nobody fills the pit back in. Rain and groundwater arrive instead, and the pit becomes a pond. So the island is left with a large number of flooded holes, in a landscape where people still live, still work, and still walk around.</a:t>
            </a:r>
          </a:p>
          <a:p/>
          <a:p>
            <a:r>
              <a:t>In 2019 the island became national heritage, as one of the "Stone Islands of Setouchi". Heritage means visitors come to look at exactly these places.</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17世紀初頭からの採石、1957年ピークで127丁場・人口1万2千人、現在は稼働2丁場・住民600〜700人。廃止後の丁場に雨水と地下水が溜まって池になる。2019年に日本遺産「石の島」認定。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Not the green of a dirty pond — a strange, mineral, glowing green. The published descriptions give depths from a few metres to about twenty metres. That figure comes from the record, not from anything I measured. Standing at the edge, you believe it.</a:t>
            </a:r>
          </a:p>
          <a:p/>
          <a:p>
            <a:r>
              <a:t>And then there is the stage. One of the flooded quarries has a stage built out on the water, made from the stone that was left behind. People hold concerts there.</a:t>
            </a:r>
          </a:p>
          <a:p/>
          <a:p>
            <a:r>
              <a:t>Now, the important number on this slide is a small one. Five or six sites during the event. That is how many quarry ponds I stood in front of, in two days, on foot.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緑がかった水面、数メートル〜約20メートルとされる水深、余った石材で作られた湖上ステージ。イベント中に立ったのは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a hundred metres up, the quarries read as grey rectangles cut into a green canopy. Straight edges, right angles, sharp corners. Nothing else on that island looks like that.</a:t>
            </a:r>
          </a:p>
          <a:p/>
          <a:p>
            <a:r>
              <a:t>The thing I did not expect is what sits between them. Where two companies held quarrying rights next to each other, neither side cut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a few hundred metres up.</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Which means the map got better in exactly the places where we happened to walk, and nowhere else.</a:t>
            </a:r>
          </a:p>
          <a:p/>
          <a:p>
            <a:r>
              <a:t>**JA (not spoken)** — 訳と補足。読み上げない。</a:t>
            </a:r>
          </a:p>
          <a:p/>
          <a:p>
            <a:r>
              <a:t>- 訳: 2日目に湖上ステージからドローンを飛ばした。上空からは緑の樹冠に切り込まれた灰色の矩形として見える。隣接する採石権者の境界は切削されず、細い花崗岩の壁として残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最後の一文（歩いた場所しか良くならない）はS12の「地図に還す」への伏線。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ponds I had seen, and about all the ones I had not. There is one instrument that covers the whole island in a single frame, and it is free to use.</a:t>
            </a:r>
          </a:p>
          <a:p/>
          <a:p>
            <a:r>
              <a:t>I used Sentinel-2, level 2A, pulled through the Microsoft Planetary Computer STAC API. One summer scene, the second of August 2025, with zero point seven percent cloud, on a ten metre grid.</a:t>
            </a:r>
          </a:p>
          <a:p/>
          <a:p>
            <a:r>
              <a:t>I want to say clearly that this is a standard water-index workflow, and that nothing in the method is new. I used three indices, and they are all simple band arithmetic. NDWI is built from the green band and the near-infrared band. MNDWI is built from the green band and the short-wave infrared band. NDVI, the vegetation index, is built from the near-infrared band and the red band. A pixel counts as water if NDWI is above minus zero point two, or MNDWI is above minus zero point one, and NDVI is not above zero point three.</a:t>
            </a:r>
          </a:p>
          <a:p/>
          <a:p>
            <a:r>
              <a:t>You may be wondering why two of those thresholds sit below zero. The reason is the pixel size. At ten metres, a narrow pond is part water, part granite and part shadow, all inside one pixel, so a strict positive threshold throws the small ponds away.</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を Microsoft Planetary Computer の STAC API 経由で取得。2025年8月2日・雲量0.7%・10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- 3指数の**式の構成は投影しない**（担当者ルーリング）。したがって「何と何から作るか」は英語の発話で必ず言う。</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of them at least one hundred square metres.</a:t>
            </a:r>
          </a:p>
          <a:p/>
          <a:p>
            <a:r>
              <a:t>Let me give you both of the scenes I ran. Spring: 2025-03-23, 0.0% cloud — 113 reported polygons, largest 1.28 hectares. Summer: 2025-08-02, 0.7% cloud — 145 polygons, largest 7,826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read the spring number as a note from my logbook, and not as a measurement you can stand on.</a:t>
            </a:r>
          </a:p>
          <a:p/>
          <a:p>
            <a:r>
              <a:t>One result did surprise me. I put the vegetation index into the rule because I expected green water and green canopy to get confused with each other. The NDVI vegetation mask removed only nine pixels. Nine. My worry was simply wrong, and I would rather tell you that than quietly leave it out.</a:t>
            </a:r>
          </a:p>
          <a:p/>
          <a:p>
            <a:r>
              <a:t>Now look at where the polygons are. They cluster in the north, the south-east, the centre and the west, and that pattern sits on top of where the historical records say the quarrying was. At the peak in 1957 the island had one hundred and twenty-seven recorded quarry sites. My scan returned one hundred and forty-five detections. Those two numbers are close, and I want to be careful here. This is a comparison of scale, and not a one-to-one match. I have not matched detection number one to quarry number one, and I am not claiming that I can.</a:t>
            </a:r>
          </a:p>
          <a:p/>
          <a:p>
            <a:r>
              <a:t>The line at the bottom of the slide is the one I would most like you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2025-03-23・雲量0.0%・報告113件・最大1.28 ha、夏季 2025-08-02・雲量0.7%・145件・最大7,826 m²。両者は差があるが原因は特定できていない。春季値は当時の報告値で実行設定が保存されていない。NDVIマスクの除外は9ピクセルのみ（仮説の棄却）。分布は北・南東・中央・西の4集中帯で歴史記録と整合。145対127は規模の比較であって1対1対応ではない。検出は候補であり個別に現地確認されていない。精度指標は算出していない。</a:t>
            </a:r>
          </a:p>
          <a:p>
            <a:r>
              <a:t>- 必須発話6行はこのスライドの契約事項。時間が押しても削らない。</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in one frame, from one afternoon of processing. But at ten metres I cannot tell you whether a wall was cut or weathered.</a:t>
            </a:r>
          </a:p>
          <a:p/>
          <a:p>
            <a:r>
              <a:t>None of these three is better than the others. Not better or worse — different things become visible. And if you only ever work at one scale, you will be very confident about the wrong shape of the problem.</a:t>
            </a:r>
          </a:p>
          <a:p/>
          <a:p>
            <a:r>
              <a:t>**JA (not spoken)** — 訳と補足。読み上げない。</a:t>
            </a:r>
          </a:p>
          <a:p/>
          <a:p>
            <a:r>
              <a:t>- 訳: 徒歩＝質感、上空＝境界、衛星＝分布。三つは優劣ではなく別のものを見せる。ひとつの縮尺だけで作業すると、問題の形を取り違えたまま確信を持ってしまう。</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put the two scales side by side, because this gap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I can offer you one reference point. Every quarry feature that is already mapped in OpenStreetMap overlaps one of my detections. I pulled that comparison in late August, and I am showing it as a reference, not as ground truth. OpenStreetMap is not an accuracy benchmark, and an overlap does not mean the two records describe the same feature. So I will not call it agreement, and I will not turn it into a percentage.</a:t>
            </a:r>
          </a:p>
          <a:p/>
          <a:p>
            <a:r>
              <a:t>What I do have is something I find more useful than a percentage. Before the scan, the honest answer to "how many drowned quarries are on this island" was: nobody knows. After the scan, the answer is: here are 145 places to go and look. The candidates form a finite field-check list. And a finite list is something a small group of people can actually work through.</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OSMに既に登録済みの丁場地物はいずれも検出と重なるが、これは参考値であって正解データではない。重なりは同一地物の同定を意味しない。候補は有限の現地確認リストにな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two days ago, on the thirty-first of August, I went back to the island. I want to be very clear about what this is and what it is not. This is a first look. It is not validation.</a:t>
            </a:r>
          </a:p>
          <a:p/>
          <a:p>
            <a:r>
              <a:t>Here is how I chose where to go. I opened the published set of one hundred and forty-five polygons, and I made a short list of candidates with their coordinates and their areas. Then I threw most of that ranking away, because on a working quarry island, safety, permission, and simply being able to walk to a place matter more than which pond is the biggest. So these are not a sample designed for accuracy. They are the candidates I could reach.</a:t>
            </a:r>
          </a:p>
          <a:p/>
          <a:p>
            <a:r>
              <a:t>What you are looking at are illustrative field photographs from that day. They show what the scan pointed at, seen from the ground. That is all they show. I have not identified any of them as a specific quarry from the historical record, and I have not counted how many candidates were right and how many were wrong. There are still no accuracy numbers, and two days of photographs would never give me any.</a:t>
            </a:r>
          </a:p>
          <a:p/>
          <a:p>
            <a:r>
              <a:t>But something did change for me on that trip, and it is not a number. Walking to a point because a satellite told me to look there is a very different experience from wandering around and finding a pond by accident. In March, the island showed me what it wanted to show me. In August, I arrived with a list. That list came out of open data and open-source code, and that is the part of this work that travels to other places.</a:t>
            </a:r>
          </a:p>
          <a:p/>
          <a:p>
            <a:r>
              <a:t>**JA (not spoken)** — 訳と補足。読み上げない。</a:t>
            </a:r>
          </a:p>
          <a:p/>
          <a:p>
            <a:r>
              <a:t>- 訳: 8月31日に再訪。これは現地確認の開始であって精度検証ではない。公開済み145件から座標・面積付きの候補リストを作り、面積順位より安全・立入許可・到達可能性を優先して訪問先を選んだ。写真は illustrative であり、丁場としての同定も正誤の集計も行っていない。3月は島が見せるものを見たが、8月はリストを持って行った。</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explicit about where this breaks.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The vegetation mask removed only nine pixels. I had expected vegetation to be a real problem, and it was not, so my mental model of the failure mode was wrong.</a:t>
            </a:r>
          </a:p>
          <a:p/>
          <a:p>
            <a:r>
              <a:t>The next steps are simple and boring.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が9ピクセルのみだったことは、当初の想定が外れたことを示す。次の一手は候補の踏査・海岸線用の陸域マスク・高分解能画像。</a:t>
            </a:r>
          </a:p>
          <a:p>
            <a:r>
              <a:t>- 限界は弁明せず短く言い切る。ここで補足を足すほど弱く聞こえる。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145 polygons are open data now. They are published as GeoJSON, in EPSG 4326, so you could open them in QGIS this afternoon if you wanted to.</a:t>
            </a:r>
          </a:p>
          <a:p/>
          <a:p>
            <a:r>
              <a:t>Let me be precise about what is public. The detected polygons are public. The pipeline also writes raster output for fieldwork and heritage documentation, and that is an output format rather than something I have published.</a:t>
            </a:r>
          </a:p>
          <a:p/>
          <a:p>
            <a:r>
              <a:t>The whole pipeline is open-source Python: rasterio, numpy, shapely, pystac-client, planetary-computer and folium. No licence fee. No imagery purchase. It runs on a laptop.</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145件は GeoJSON（EPSG:4326）として公開済み。パイプラインは現地調査・遺産記録向けにラスタ出力も生成するが、こちらは出力仕様であって公開物ではない。実装はOSSのPythonのみ（rasterio, numpy, shapely, pystac-client, planetary-computer, folium）。ライセンス費・画像購入費は不要。瀬戸内の他の採石島へ展開可能だが、閾値はそのまま持ち込めない。</a:t>
            </a:r>
          </a:p>
          <a:p>
            <a:r>
              <a:t>- 公開物（GeoJSON）とパイプライン出力（GeoTIFF）を混同しない。この区別を英語で必ず言う。</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6202680" y="2634870"/>
            <a:ext cx="5486400" cy="3142740"/>
          </a:xfrm>
          <a:prstGeom prst="rect">
            <a:avLst/>
          </a:prstGeom>
        </p:spPr>
      </p:pic>
      <p:sp>
        <p:nvSpPr>
          <p:cNvPr id="4" name="Body"/>
          <p:cNvSpPr txBox="1"/>
          <p:nvPr/>
        </p:nvSpPr>
        <p:spPr>
          <a:xfrm>
            <a:off x="502920" y="2011680"/>
            <a:ext cx="5425440" cy="4389120"/>
          </a:xfrm>
          <a:prstGeom prst="rect">
            <a:avLst/>
          </a:prstGeom>
          <a:noFill/>
        </p:spPr>
        <p:txBody>
          <a:bodyPr wrap="square">
            <a:spAutoFit/>
          </a:bodyPr>
          <a:lstStyle/>
          <a:p>
            <a:pPr algn="l"/>
            <a:r>
              <a:rPr sz="1700" b="0">
                <a:solidFill>
                  <a:srgbClr val="2B2B2B"/>
                </a:solidFill>
              </a:rPr>
              <a:t>Kitagi Island · Kasaoka City, Okayama · Seto Inland Sea</a:t>
            </a:r>
          </a:p>
          <a:p>
            <a:pPr algn="l"/>
            <a:r>
              <a:rPr sz="1700" b="0">
                <a:solidFill>
                  <a:srgbClr val="2B2B2B"/>
                </a:solidFill>
              </a:rPr>
              <a:t>Granite quarried since the early 17th century</a:t>
            </a:r>
          </a:p>
          <a:p>
            <a:pPr algn="l"/>
            <a:r>
              <a:rPr sz="1700" b="0">
                <a:solidFill>
                  <a:srgbClr val="2B2B2B"/>
                </a:solidFill>
              </a:rPr>
              <a:t>127 active quarry sites at the 1957 peak · up to 12,000 residents</a:t>
            </a:r>
          </a:p>
          <a:p>
            <a:pPr algn="l"/>
            <a:r>
              <a:rPr sz="1700" b="0">
                <a:solidFill>
                  <a:srgbClr val="2B2B2B"/>
                </a:solidFill>
              </a:rPr>
              <a:t>Today: two working quarries · about 600–700 residents</a:t>
            </a:r>
          </a:p>
          <a:p>
            <a:pPr algn="l"/>
            <a:r>
              <a:rPr sz="1700" b="0">
                <a:solidFill>
                  <a:srgbClr val="2B2B2B"/>
                </a:solidFill>
              </a:rPr>
              <a:t>Abandoned pits filled with rain and groundwater</a:t>
            </a:r>
          </a:p>
          <a:p>
            <a:pPr algn="l"/>
            <a:r>
              <a:rPr sz="1700" b="0">
                <a:solidFill>
                  <a:srgbClr val="2B2B2B"/>
                </a:solidFill>
              </a:rPr>
              <a:t>National heritage since 2019 — "Stone Islands of Setouchi"</a:t>
            </a:r>
          </a:p>
          <a:p>
            <a:pPr algn="l"/>
            <a:r>
              <a:rPr sz="17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stage on the water, built from leftover stone</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oster_f4_index_panels.png"/>
          <p:cNvPicPr>
            <a:picLocks noChangeAspect="1"/>
          </p:cNvPicPr>
          <p:nvPr/>
        </p:nvPicPr>
        <p:blipFill>
          <a:blip r:embed="rId2"/>
          <a:stretch>
            <a:fillRect/>
          </a:stretch>
        </p:blipFill>
        <p:spPr>
          <a:xfrm>
            <a:off x="6944774" y="2011680"/>
            <a:ext cx="4550851" cy="4389120"/>
          </a:xfrm>
          <a:prstGeom prst="rect">
            <a:avLst/>
          </a:prstGeom>
        </p:spPr>
      </p:pic>
      <p:sp>
        <p:nvSpPr>
          <p:cNvPr id="4" name="Body"/>
          <p:cNvSpPr txBox="1"/>
          <p:nvPr/>
        </p:nvSpPr>
        <p:spPr>
          <a:xfrm>
            <a:off x="502920" y="2011680"/>
            <a:ext cx="6167534"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6997126" y="2011680"/>
            <a:ext cx="4629027" cy="402336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19886"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7419" y="3337560"/>
            <a:ext cx="869716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511424" y="2011680"/>
            <a:ext cx="4149071" cy="3931919"/>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73418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28985" y="3886200"/>
            <a:ext cx="6934030"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