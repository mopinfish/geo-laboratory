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1200000"/>
            <a:ext cx="9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3366"/>
                </a:solidFill>
                <a:latin typeface="Meiryo"/>
              </a:rPr>
              <a:t>石の島の水を探す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0000" y="2500000"/>
            <a:ext cx="9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66CC"/>
                </a:solidFill>
                <a:latin typeface="Meiryo"/>
              </a:rPr>
              <a:t>衛星画像で見つける北木島の丁場跡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0000" y="360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Meiryo"/>
              </a:rPr>
              <a:t>岡山県笠岡市・北木島  |  Sentinel-2 衛星画像  |  水域指数（NDWI・MNDWI）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000" y="5800000"/>
            <a:ext cx="9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Meiryo"/>
              </a:rP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366"/>
                </a:solidFill>
                <a:latin typeface="Meiryo"/>
              </a:rPr>
              <a:t>北木島ってどんな島？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AAAA"/>
                </a:solidFill>
                <a:latin typeface="Meiryo"/>
              </a:rPr>
              <a:t>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200000"/>
            <a:ext cx="55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600" b="1">
                <a:solidFill>
                  <a:srgbClr val="1A1A2E"/>
                </a:solidFill>
                <a:latin typeface="Meiryo"/>
              </a:rPr>
              <a:t>笠岡諸島で一番大きな島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岡山県笠岡市に属し、花崗岩（北木石）の産地として全国に知られています。</a:t>
            </a:r>
          </a:p>
          <a:p>
            <a:pPr algn="l">
              <a:spcAft>
                <a:spcPts val="480"/>
              </a:spcAft>
            </a:pPr>
          </a:p>
          <a:p>
            <a:pPr algn="l">
              <a:spcAft>
                <a:spcPts val="480"/>
              </a:spcAft>
            </a:pPr>
            <a:r>
              <a:rPr sz="1600" b="1">
                <a:solidFill>
                  <a:srgbClr val="1A1A2E"/>
                </a:solidFill>
                <a:latin typeface="Meiryo"/>
              </a:rPr>
              <a:t>「石の島」としての歴史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1620年 — 大坂城の石垣に北木石が使用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1892年 — 鶴田丁場が開業、産業としての採石が本格化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1957年 — 丁場（採石場）が島内に127か所、人口は最大12,000人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現在  — 丁場はわずか2か所、人口は約600〜700人</a:t>
            </a:r>
          </a:p>
          <a:p>
            <a:pPr algn="l">
              <a:spcAft>
                <a:spcPts val="480"/>
              </a:spcAft>
            </a:pPr>
          </a:p>
          <a:p>
            <a:pPr algn="l">
              <a:spcAft>
                <a:spcPts val="480"/>
              </a:spcAft>
            </a:pPr>
            <a:r>
              <a:rPr sz="1600" b="1">
                <a:solidFill>
                  <a:srgbClr val="1A1A2E"/>
                </a:solidFill>
                <a:latin typeface="Meiryo"/>
              </a:rPr>
              <a:t>北木石が使われた有名な建物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大坂城石垣 / 日本銀行本店 / 靖国神社大鳥居 / 明治神宮橋 /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三越日本橋本店 / 東京駅 / 五条大橋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0" y="1200000"/>
            <a:ext cx="5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600" b="1">
                <a:solidFill>
                  <a:srgbClr val="1A1A2E"/>
                </a:solidFill>
                <a:latin typeface="Meiryo"/>
              </a:rPr>
              <a:t>2019年 日本遺産に認定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「知ってる!? 悠久の時が流れる石の島」</a:t>
            </a:r>
          </a:p>
          <a:p>
            <a:pPr algn="l">
              <a:spcAft>
                <a:spcPts val="480"/>
              </a:spcAft>
            </a:pPr>
          </a:p>
          <a:p>
            <a:pPr algn="l">
              <a:spcAft>
                <a:spcPts val="480"/>
              </a:spcAft>
            </a:pPr>
            <a:r>
              <a:rPr sz="1600" b="1">
                <a:solidFill>
                  <a:srgbClr val="1A1A2E"/>
                </a:solidFill>
                <a:latin typeface="Meiryo"/>
              </a:rPr>
              <a:t>丁場跡に水が溜まる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閉鎖後の採石場は深い凹地に
雨水が溜まり、池になっています。
「北木の桂林」と呼ばれる
エメラルドグリーンの湖も。</a:t>
            </a:r>
          </a:p>
          <a:p>
            <a:pPr algn="l">
              <a:spcAft>
                <a:spcPts val="480"/>
              </a:spcAft>
            </a:pPr>
          </a:p>
          <a:p>
            <a:pPr algn="l">
              <a:spcAft>
                <a:spcPts val="480"/>
              </a:spcAft>
            </a:pPr>
            <a:r>
              <a:rPr sz="1600" b="1">
                <a:solidFill>
                  <a:srgbClr val="1A1A2E"/>
                </a:solidFill>
                <a:latin typeface="Meiryo"/>
              </a:rPr>
              <a:t>でも…全部でいくつある？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丁場跡の全容を把握した
調査は限られています。
そこで衛星画像の出番です！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366"/>
                </a:solidFill>
                <a:latin typeface="Meiryo"/>
              </a:rPr>
              <a:t>衛星画像で丁場跡の「水」を見つけたい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000000"/>
            <a:ext cx="1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Meiryo"/>
              </a:rPr>
              <a:t>水は光の特定の波長を吸収する性質があります。この性質を利用して、衛星画像から水域だけを浮かび上がらせます。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AAAA"/>
                </a:solidFill>
                <a:latin typeface="Meiryo"/>
              </a:rPr>
              <a:t>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2000000"/>
            <a:ext cx="3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66CC"/>
                </a:solidFill>
                <a:latin typeface="Meiryo"/>
              </a:rPr>
              <a:t>NDWI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2500000"/>
            <a:ext cx="3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99CC"/>
                </a:solidFill>
                <a:latin typeface="Meiryo"/>
              </a:rPr>
              <a:t>緑色 vs 近赤外線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3000000"/>
            <a:ext cx="34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  <a:latin typeface="Meiryo"/>
              </a:rPr>
              <a:t>水は近赤外線を強く吸収。</a:t>
            </a:r>
            <a:br/>
            <a:r>
              <a:t>緑色との差を計算すると</a:t>
            </a:r>
            <a:br/>
            <a:r>
              <a:t>水域がプラスの値になる。</a:t>
            </a:r>
            <a:br/>
            <a:br/>
            <a:r>
              <a:t>マクフィーターズ（1996）が提唱。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0000" y="2000000"/>
            <a:ext cx="3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66CC"/>
                </a:solidFill>
                <a:latin typeface="Meiryo"/>
              </a:rPr>
              <a:t>MNDWI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0000" y="2500000"/>
            <a:ext cx="3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99CC"/>
                </a:solidFill>
                <a:latin typeface="Meiryo"/>
              </a:rPr>
              <a:t>緑色 vs 短波長赤外線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0000" y="3000000"/>
            <a:ext cx="34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  <a:latin typeface="Meiryo"/>
              </a:rPr>
              <a:t>近赤外線の代わりに</a:t>
            </a:r>
            <a:br/>
            <a:r>
              <a:t>短波長赤外線を使う改良版。</a:t>
            </a:r>
            <a:br/>
            <a:r>
              <a:t>岩肌と水域の区別が</a:t>
            </a:r>
            <a:br/>
            <a:r>
              <a:t>NDWIよりうまくいく。</a:t>
            </a:r>
            <a:br/>
            <a:br/>
            <a:r>
              <a:t>シュー（2006）が提唱。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0000" y="2000000"/>
            <a:ext cx="3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66CC"/>
                </a:solidFill>
                <a:latin typeface="Meiryo"/>
              </a:rPr>
              <a:t>合わせ技で検出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000" y="2500000"/>
            <a:ext cx="3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99CC"/>
                </a:solidFill>
                <a:latin typeface="Meiryo"/>
              </a:rPr>
              <a:t>2つの指数の「いいとこ取り」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0000" y="3000000"/>
            <a:ext cx="34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  <a:latin typeface="Meiryo"/>
              </a:rPr>
              <a:t>NDWIかMNDWIの</a:t>
            </a:r>
            <a:br/>
            <a:r>
              <a:t>どちらかで水域と判定された</a:t>
            </a:r>
            <a:br/>
            <a:r>
              <a:t>ピクセルを水域とみなす。</a:t>
            </a:r>
            <a:br/>
            <a:br/>
            <a:r>
              <a:t>さらに植生（NDVI）が高い</a:t>
            </a:r>
            <a:br/>
            <a:r>
              <a:t>エリアは除外して精度UP。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366"/>
                </a:solidFill>
                <a:latin typeface="Meiryo"/>
              </a:rPr>
              <a:t>使ったデータ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AAAA"/>
                </a:solidFill>
                <a:latin typeface="Meiryo"/>
              </a:rPr>
              <a:t>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200000"/>
            <a:ext cx="55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600" b="1">
                <a:solidFill>
                  <a:srgbClr val="1A1A2E"/>
                </a:solidFill>
                <a:latin typeface="Meiryo"/>
              </a:rPr>
              <a:t>Sentinel-2 衛星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ヨーロッパ宇宙機関（ESA）が運用する
地球観測衛星。10mの解像度で
地表を撮影し、データは無料公開。</a:t>
            </a:r>
          </a:p>
          <a:p>
            <a:pPr algn="l">
              <a:spcAft>
                <a:spcPts val="480"/>
              </a:spcAft>
            </a:pPr>
          </a:p>
          <a:p>
            <a:pPr algn="l">
              <a:spcAft>
                <a:spcPts val="480"/>
              </a:spcAft>
            </a:pPr>
            <a:r>
              <a:rPr sz="1600" b="1">
                <a:solidFill>
                  <a:srgbClr val="1A1A2E"/>
                </a:solidFill>
                <a:latin typeface="Meiryo"/>
              </a:rPr>
              <a:t>Microsoft Planetary Computer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衛星画像をクラウドで検索・取得できる
無料サービス。プログラムから
直接アクセスできます。</a:t>
            </a:r>
          </a:p>
          <a:p>
            <a:pPr algn="l">
              <a:spcAft>
                <a:spcPts val="480"/>
              </a:spcAft>
            </a:pPr>
          </a:p>
          <a:p>
            <a:pPr algn="l">
              <a:spcAft>
                <a:spcPts val="480"/>
              </a:spcAft>
            </a:pPr>
            <a:r>
              <a:rPr sz="1600" b="1">
                <a:solidFill>
                  <a:srgbClr val="1A1A2E"/>
                </a:solidFill>
                <a:latin typeface="Meiryo"/>
              </a:rPr>
              <a:t>使用した光の波長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緑色（560nm）/ 赤色（665nm）/ 近赤外線（842nm）/ 短波長赤外線（1610nm）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0" y="1200000"/>
            <a:ext cx="5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600" b="1">
                <a:solidFill>
                  <a:srgbClr val="1A1A2E"/>
                </a:solidFill>
                <a:latin typeface="Meiryo"/>
              </a:rPr>
              <a:t>2つの時期の画像を比較</a:t>
            </a:r>
          </a:p>
          <a:p>
            <a:pPr algn="l">
              <a:spcAft>
                <a:spcPts val="480"/>
              </a:spcAft>
            </a:pPr>
          </a:p>
          <a:p>
            <a:pPr algn="l">
              <a:spcAft>
                <a:spcPts val="480"/>
              </a:spcAft>
            </a:pPr>
            <a:r>
              <a:rPr sz="1600" b="1">
                <a:solidFill>
                  <a:srgbClr val="1A1A2E"/>
                </a:solidFill>
                <a:latin typeface="Meiryo"/>
              </a:rPr>
              <a:t>春の画像（2025年3月23日）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雲量 0.0%   植生が少ない時期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岩肌と水の区別がやや難しい</a:t>
            </a:r>
          </a:p>
          <a:p>
            <a:pPr algn="l">
              <a:spcAft>
                <a:spcPts val="480"/>
              </a:spcAft>
            </a:pPr>
          </a:p>
          <a:p>
            <a:pPr algn="l">
              <a:spcAft>
                <a:spcPts val="480"/>
              </a:spcAft>
            </a:pPr>
            <a:r>
              <a:rPr sz="1600" b="1">
                <a:solidFill>
                  <a:srgbClr val="1A1A2E"/>
                </a:solidFill>
                <a:latin typeface="Meiryo"/>
              </a:rPr>
              <a:t>夏の画像（2025年8月2日）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雲量 0.7%   植生が豊富な時期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緑の島 + 水域 が鮮明に分かれる</a:t>
            </a:r>
          </a:p>
          <a:p>
            <a:pPr algn="l">
              <a:spcAft>
                <a:spcPts val="480"/>
              </a:spcAft>
            </a:pPr>
          </a:p>
          <a:p>
            <a:pPr algn="l">
              <a:spcAft>
                <a:spcPts val="480"/>
              </a:spcAft>
            </a:pPr>
            <a:r>
              <a:rPr sz="1600" b="1">
                <a:solidFill>
                  <a:srgbClr val="1A1A2E"/>
                </a:solidFill>
                <a:latin typeface="Meiryo"/>
              </a:rPr>
              <a:t>→ 夏の画像を中心に分析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366"/>
                </a:solidFill>
                <a:latin typeface="Meiryo"/>
              </a:rPr>
              <a:t>衛星画像から計算した3つの指数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90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Meiryo"/>
              </a:rPr>
              <a:t>青い部分が水域、赤い部分が陸地。右下が最終的な判定結果（青=水域、緑=植生、灰=その他）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AAAA"/>
                </a:solidFill>
                <a:latin typeface="Meiryo"/>
              </a:rPr>
              <a:t>5 / 12</a:t>
            </a:r>
          </a:p>
        </p:txBody>
      </p:sp>
      <p:pic>
        <p:nvPicPr>
          <p:cNvPr id="5" name="Picture 4" descr="exp002_ndwi_st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00" y="1400000"/>
            <a:ext cx="106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366"/>
                </a:solidFill>
                <a:latin typeface="Meiryo"/>
              </a:rPr>
              <a:t>指数の分布 — 水と陸を分けるライン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AAAA"/>
                </a:solidFill>
                <a:latin typeface="Meiryo"/>
              </a:rPr>
              <a:t>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90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Meiryo"/>
              </a:rPr>
              <a:t>破線が判定の「しきい値」。左側が陸、右側が水域。しきい値を低めに設定して、小さな水域も拾えるようにしています。</a:t>
            </a:r>
          </a:p>
        </p:txBody>
      </p:sp>
      <p:pic>
        <p:nvPicPr>
          <p:cNvPr id="5" name="Picture 4" descr="exp002_ndwi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600000"/>
            <a:ext cx="114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366"/>
                </a:solidFill>
                <a:latin typeface="Meiryo"/>
              </a:rPr>
              <a:t>衛星写真で見る北木島 — 水域を青く強調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AAAA"/>
                </a:solidFill>
                <a:latin typeface="Meiryo"/>
              </a:rPr>
              <a:t>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Meiryo"/>
              </a:rPr>
              <a:t>左: 衛星写真そのまま　　右: 水域を青色で強調</a:t>
            </a:r>
          </a:p>
        </p:txBody>
      </p:sp>
      <p:pic>
        <p:nvPicPr>
          <p:cNvPr id="5" name="Picture 4" descr="exp002_geotiff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400000"/>
            <a:ext cx="11400000" cy="52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0000" y="620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6CC"/>
                </a:solidFill>
                <a:latin typeface="Meiryo"/>
              </a:rPr>
              <a:t>島の内部に点在する青いスポットが、丁場跡に溜まった水域の候補です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366"/>
                </a:solidFill>
                <a:latin typeface="Meiryo"/>
              </a:rPr>
              <a:t>見つかった水域 — 145か所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AAAA"/>
                </a:solidFill>
                <a:latin typeface="Meiryo"/>
              </a:rPr>
              <a:t>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200000"/>
            <a:ext cx="5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66CC"/>
                </a:solidFill>
                <a:latin typeface="Meiryo"/>
              </a:rPr>
              <a:t>145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240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1A2E"/>
                </a:solidFill>
                <a:latin typeface="Meiryo"/>
              </a:rPr>
              <a:t>島内で検出された水域ポリゴン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200000"/>
            <a:ext cx="50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600" b="1">
                <a:solidFill>
                  <a:srgbClr val="1A1A2E"/>
                </a:solidFill>
                <a:latin typeface="Meiryo"/>
              </a:rPr>
              <a:t>面積の分布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100〜500m² … 112か所（小さな水溜り）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500〜1,000m² … 19か所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1,000〜5,000m² … 12か所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5,000m²以上 … 2か所（大きな丁場跡）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0" y="1200000"/>
            <a:ext cx="55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600" b="1">
                <a:solidFill>
                  <a:srgbClr val="1A1A2E"/>
                </a:solidFill>
                <a:latin typeface="Meiryo"/>
              </a:rPr>
              <a:t>4つの集中エリア</a:t>
            </a:r>
          </a:p>
          <a:p>
            <a:pPr algn="l">
              <a:spcAft>
                <a:spcPts val="480"/>
              </a:spcAft>
            </a:pPr>
          </a:p>
          <a:p>
            <a:pPr algn="l">
              <a:spcAft>
                <a:spcPts val="480"/>
              </a:spcAft>
            </a:pPr>
            <a:r>
              <a:rPr sz="1600" b="1">
                <a:solidFill>
                  <a:srgbClr val="1A1A2E"/>
                </a:solidFill>
                <a:latin typeface="Meiryo"/>
              </a:rPr>
              <a:t>島の北部（最大の集中地帯）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最大水域 7,826m² を含む。
上位10件中6件がここに集中。
金風呂地区の採石中心地に対応？</a:t>
            </a:r>
          </a:p>
          <a:p>
            <a:pPr algn="l">
              <a:spcAft>
                <a:spcPts val="480"/>
              </a:spcAft>
            </a:pPr>
          </a:p>
          <a:p>
            <a:pPr algn="l">
              <a:spcAft>
                <a:spcPts val="480"/>
              </a:spcAft>
            </a:pPr>
            <a:r>
              <a:rPr sz="1600" b="1">
                <a:solidFill>
                  <a:srgbClr val="1A1A2E"/>
                </a:solidFill>
                <a:latin typeface="Meiryo"/>
              </a:rPr>
              <a:t>島の南東部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2番目に大きい水域 6,521m²。
「北木の桂林」に相当か。</a:t>
            </a:r>
          </a:p>
          <a:p>
            <a:pPr algn="l">
              <a:spcAft>
                <a:spcPts val="480"/>
              </a:spcAft>
            </a:pPr>
          </a:p>
          <a:p>
            <a:pPr algn="l">
              <a:spcAft>
                <a:spcPts val="480"/>
              </a:spcAft>
            </a:pPr>
            <a:r>
              <a:rPr sz="1600" b="1">
                <a:solidFill>
                  <a:srgbClr val="1A1A2E"/>
                </a:solidFill>
                <a:latin typeface="Meiryo"/>
              </a:rPr>
              <a:t>島の中央部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中規模の水域が散在。</a:t>
            </a:r>
          </a:p>
          <a:p>
            <a:pPr algn="l">
              <a:spcAft>
                <a:spcPts val="480"/>
              </a:spcAft>
            </a:pPr>
          </a:p>
          <a:p>
            <a:pPr algn="l">
              <a:spcAft>
                <a:spcPts val="480"/>
              </a:spcAft>
            </a:pPr>
            <a:r>
              <a:rPr sz="1600" b="1">
                <a:solidFill>
                  <a:srgbClr val="1A1A2E"/>
                </a:solidFill>
                <a:latin typeface="Meiryo"/>
              </a:rPr>
              <a:t>島の西部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1A1A2E"/>
                </a:solidFill>
                <a:latin typeface="Meiryo"/>
              </a:rPr>
              <a:t>小〜中規模の水域が点在。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366"/>
                </a:solidFill>
                <a:latin typeface="Meiryo"/>
              </a:rPr>
              <a:t>春と夏で見え方が変わる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90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  <a:latin typeface="Meiryo"/>
              </a:rPr>
              <a:t>同じ島を撮った2つの季節の衛星画像を比較しました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AAAA"/>
                </a:solidFill>
                <a:latin typeface="Meiryo"/>
              </a:rPr>
              <a:t>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67E22"/>
                </a:solidFill>
                <a:latin typeface="Meiryo"/>
              </a:rPr>
              <a:t>春（3月23日）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2100000"/>
            <a:ext cx="5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Meiryo"/>
              </a:rPr>
              <a:t>植生が少なく岩肌が目立つ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27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Meiryo"/>
              </a:rPr>
              <a:t>検出ポリゴン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0000" y="2700000"/>
            <a:ext cx="2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7E22"/>
                </a:solidFill>
                <a:latin typeface="Meiryo"/>
              </a:rPr>
              <a:t>113か所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32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Meiryo"/>
              </a:rPr>
              <a:t>最大水域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0000" y="3200000"/>
            <a:ext cx="2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7E22"/>
                </a:solidFill>
                <a:latin typeface="Meiryo"/>
              </a:rPr>
              <a:t>1.28 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37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Meiryo"/>
              </a:rPr>
              <a:t>1,000m²超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000" y="3700000"/>
            <a:ext cx="2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7E22"/>
                </a:solidFill>
                <a:latin typeface="Meiryo"/>
              </a:rPr>
              <a:t>22か所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42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Meiryo"/>
              </a:rPr>
              <a:t>NDWI最大値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0000" y="4200000"/>
            <a:ext cx="2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7E22"/>
                </a:solidFill>
                <a:latin typeface="Meiryo"/>
              </a:rPr>
              <a:t>1.000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000" y="47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Meiryo"/>
              </a:rPr>
              <a:t>特徴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0000" y="4700000"/>
            <a:ext cx="2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7E22"/>
                </a:solidFill>
                <a:latin typeface="Meiryo"/>
              </a:rPr>
              <a:t>大きな水域を見つけやすい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0000" y="150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7D32"/>
                </a:solidFill>
                <a:latin typeface="Meiryo"/>
              </a:rPr>
              <a:t>夏（8月2日）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0000" y="2100000"/>
            <a:ext cx="5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Meiryo"/>
              </a:rPr>
              <a:t>緑豊かで島の輪郭が鮮明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0000" y="27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Meiryo"/>
              </a:rPr>
              <a:t>検出ポリゴン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0000" y="2700000"/>
            <a:ext cx="2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66CC"/>
                </a:solidFill>
                <a:latin typeface="Meiryo"/>
              </a:rPr>
              <a:t>145か所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0000" y="32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Meiryo"/>
              </a:rPr>
              <a:t>最大水域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0000" y="3200000"/>
            <a:ext cx="2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66CC"/>
                </a:solidFill>
                <a:latin typeface="Meiryo"/>
              </a:rPr>
              <a:t>0.78 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0000" y="37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Meiryo"/>
              </a:rPr>
              <a:t>1,000m²超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0000" y="3700000"/>
            <a:ext cx="2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66CC"/>
                </a:solidFill>
                <a:latin typeface="Meiryo"/>
              </a:rPr>
              <a:t>14か所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0000" y="42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Meiryo"/>
              </a:rPr>
              <a:t>NDWI最大値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0000" y="4200000"/>
            <a:ext cx="2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66CC"/>
                </a:solidFill>
                <a:latin typeface="Meiryo"/>
              </a:rPr>
              <a:t>0.210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0000" y="47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Meiryo"/>
              </a:rPr>
              <a:t>特徴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0000" y="4700000"/>
            <a:ext cx="2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66CC"/>
                </a:solidFill>
                <a:latin typeface="Meiryo"/>
              </a:rPr>
              <a:t>小さな水域まで拾える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0000" y="57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66"/>
                </a:solidFill>
                <a:latin typeface="Meiryo"/>
              </a:rPr>
              <a:t>→ 季節ごとに得意な検出パターンが違う。両方の結果を合わせると、より網羅的に丁場跡を把握できそうです。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366"/>
                </a:solidFill>
                <a:latin typeface="Meiryo"/>
              </a:rPr>
              <a:t>意外な発見 — 植生マスクはほぼ効かなかった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AAAA"/>
                </a:solidFill>
                <a:latin typeface="Meiryo"/>
              </a:rP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20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</a:pPr>
            <a:r>
              <a:rPr sz="1800" b="1">
                <a:solidFill>
                  <a:srgbClr val="1A1A2E"/>
                </a:solidFill>
                <a:latin typeface="Meiryo"/>
              </a:rPr>
              <a:t>当初の狙い</a:t>
            </a:r>
          </a:p>
          <a:p>
            <a:pPr algn="l">
              <a:spcAft>
                <a:spcPts val="540"/>
              </a:spcAft>
            </a:pPr>
            <a:r>
              <a:rPr sz="1800" b="0">
                <a:solidFill>
                  <a:srgbClr val="1A1A2E"/>
                </a:solidFill>
                <a:latin typeface="Meiryo"/>
              </a:rPr>
              <a:t>「夏の画像なら植生が豊富。植生を除外すれば、水域の検出精度が上がるはず」</a:t>
            </a:r>
          </a:p>
          <a:p>
            <a:pPr algn="l">
              <a:spcAft>
                <a:spcPts val="540"/>
              </a:spcAft>
            </a:pPr>
          </a:p>
          <a:p>
            <a:pPr algn="l">
              <a:spcAft>
                <a:spcPts val="540"/>
              </a:spcAft>
            </a:pPr>
            <a:r>
              <a:rPr sz="1800" b="1">
                <a:solidFill>
                  <a:srgbClr val="1A1A2E"/>
                </a:solidFill>
                <a:latin typeface="Meiryo"/>
              </a:rPr>
              <a:t>実際の結果</a:t>
            </a:r>
          </a:p>
          <a:p>
            <a:pPr algn="l">
              <a:spcAft>
                <a:spcPts val="540"/>
              </a:spcAft>
            </a:pPr>
            <a:r>
              <a:rPr sz="1800" b="0">
                <a:solidFill>
                  <a:srgbClr val="1A1A2E"/>
                </a:solidFill>
                <a:latin typeface="Meiryo"/>
              </a:rPr>
              <a:t>植生マスクで除外されたのは…たった9ピクセル！</a:t>
            </a:r>
          </a:p>
          <a:p>
            <a:pPr algn="l">
              <a:spcAft>
                <a:spcPts val="540"/>
              </a:spcAft>
            </a:pPr>
          </a:p>
          <a:p>
            <a:pPr algn="l">
              <a:spcAft>
                <a:spcPts val="540"/>
              </a:spcAft>
            </a:pPr>
            <a:r>
              <a:rPr sz="1800" b="1">
                <a:solidFill>
                  <a:srgbClr val="1A1A2E"/>
                </a:solidFill>
                <a:latin typeface="Meiryo"/>
              </a:rPr>
              <a:t>なぜ？</a:t>
            </a:r>
          </a:p>
          <a:p>
            <a:pPr algn="l">
              <a:spcAft>
                <a:spcPts val="540"/>
              </a:spcAft>
            </a:pPr>
            <a:r>
              <a:rPr sz="1800" b="0">
                <a:solidFill>
                  <a:srgbClr val="1A1A2E"/>
                </a:solidFill>
                <a:latin typeface="Meiryo"/>
              </a:rPr>
              <a:t>北木島の植生は、そもそも「水域っぽい」反射特性を持っていなかった。</a:t>
            </a:r>
          </a:p>
          <a:p>
            <a:pPr algn="l">
              <a:spcAft>
                <a:spcPts val="540"/>
              </a:spcAft>
            </a:pPr>
            <a:r>
              <a:rPr sz="1800" b="0">
                <a:solidFill>
                  <a:srgbClr val="1A1A2E"/>
                </a:solidFill>
                <a:latin typeface="Meiryo"/>
              </a:rPr>
              <a:t>つまり、NDWIやMNDWIの段階で植生はすでに弾かれていたのです。</a:t>
            </a:r>
          </a:p>
          <a:p>
            <a:pPr algn="l">
              <a:spcAft>
                <a:spcPts val="540"/>
              </a:spcAft>
            </a:pPr>
            <a:r>
              <a:rPr sz="1800" b="0">
                <a:solidFill>
                  <a:srgbClr val="1A1A2E"/>
                </a:solidFill>
                <a:latin typeface="Meiryo"/>
              </a:rPr>
              <a:t>植生マスクを追加しても、ほぼ何も変わりませんでした。</a:t>
            </a:r>
          </a:p>
          <a:p>
            <a:pPr algn="l">
              <a:spcAft>
                <a:spcPts val="540"/>
              </a:spcAft>
            </a:pPr>
          </a:p>
          <a:p>
            <a:pPr algn="l">
              <a:spcAft>
                <a:spcPts val="540"/>
              </a:spcAft>
            </a:pPr>
            <a:r>
              <a:rPr sz="1800" b="1">
                <a:solidFill>
                  <a:srgbClr val="1A1A2E"/>
                </a:solidFill>
                <a:latin typeface="Meiryo"/>
              </a:rPr>
              <a:t>教訓</a:t>
            </a:r>
          </a:p>
          <a:p>
            <a:pPr algn="l">
              <a:spcAft>
                <a:spcPts val="540"/>
              </a:spcAft>
            </a:pPr>
            <a:r>
              <a:rPr sz="1800" b="0">
                <a:solidFill>
                  <a:srgbClr val="1A1A2E"/>
                </a:solidFill>
                <a:latin typeface="Meiryo"/>
              </a:rPr>
              <a:t>「効くはず」の手法が実際に効くかは、データで確認するまでわからない。</a:t>
            </a:r>
          </a:p>
          <a:p>
            <a:pPr algn="l">
              <a:spcAft>
                <a:spcPts val="540"/>
              </a:spcAft>
            </a:pPr>
            <a:r>
              <a:rPr sz="1800" b="0">
                <a:solidFill>
                  <a:srgbClr val="1A1A2E"/>
                </a:solidFill>
                <a:latin typeface="Meiryo"/>
              </a:rPr>
              <a:t>花崗岩の島のように岩肌が卓越する環境では、植生マスクの出番は少ないようです。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366"/>
                </a:solidFill>
                <a:latin typeface="Meiryo"/>
              </a:rPr>
              <a:t>まとめ — わかったこと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AAAA"/>
                </a:solidFill>
                <a:latin typeface="Meiryo"/>
              </a:rP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100000"/>
            <a:ext cx="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100000"/>
            <a:ext cx="550000" cy="550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200000"/>
            <a:ext cx="5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1100000"/>
            <a:ext cx="10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366"/>
                </a:solidFill>
                <a:latin typeface="Meiryo"/>
              </a:rPr>
              <a:t>衛星画像から丁場跡の水域を検出できた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0000" y="1550000"/>
            <a:ext cx="10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Meiryo"/>
              </a:rPr>
              <a:t>NDWIとMNDWIの合わせ技で、島内に145か所の水域を発見。</a:t>
            </a:r>
            <a:br/>
            <a:r>
              <a:t>歴史記録の127か所の丁場に近い数です。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2450000"/>
            <a:ext cx="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2450000"/>
            <a:ext cx="550000" cy="550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2550000"/>
            <a:ext cx="5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0000" y="2450000"/>
            <a:ext cx="10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366"/>
                </a:solidFill>
                <a:latin typeface="Meiryo"/>
              </a:rPr>
              <a:t>水域は島の北部に集中している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0000" y="2900000"/>
            <a:ext cx="10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Meiryo"/>
              </a:rPr>
              <a:t>金風呂地区（採石の中心地）に対応する地域に</a:t>
            </a:r>
            <a:br/>
            <a:r>
              <a:t>最も多くの水域が見つかりました。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00" y="3800000"/>
            <a:ext cx="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3800000"/>
            <a:ext cx="550000" cy="550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3900000"/>
            <a:ext cx="5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0000" y="3800000"/>
            <a:ext cx="10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366"/>
                </a:solidFill>
                <a:latin typeface="Meiryo"/>
              </a:rPr>
              <a:t>春と夏で検出の特性が異なる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0000" y="4250000"/>
            <a:ext cx="10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Meiryo"/>
              </a:rPr>
              <a:t>春は大型水域、夏は小規模水域の検出に強い。</a:t>
            </a:r>
            <a:br/>
            <a:r>
              <a:t>両方を使うと網羅性が向上します。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000" y="5150000"/>
            <a:ext cx="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5150000"/>
            <a:ext cx="550000" cy="550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5250000"/>
            <a:ext cx="5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0000" y="5150000"/>
            <a:ext cx="10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366"/>
                </a:solidFill>
                <a:latin typeface="Meiryo"/>
              </a:rPr>
              <a:t>次のステップ — 現地で確かめる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0000" y="5600000"/>
            <a:ext cx="10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Meiryo"/>
              </a:rPr>
              <a:t>衛星からの検出はあくまで「候補」。</a:t>
            </a:r>
            <a:br/>
            <a:r>
              <a:t>実際の丁場跡との照合が今後の課題です。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000000"/>
            <a:ext cx="9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3366"/>
                </a:solidFill>
                <a:latin typeface="Meiryo"/>
              </a:rPr>
              <a:t>ありがとうございました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0000" y="330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66CC"/>
                </a:solidFill>
                <a:latin typeface="Meiryo"/>
              </a:rPr>
              <a:t>石の島の水を探す — 衛星画像で見つける北木島の丁場跡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0000" y="4200000"/>
            <a:ext cx="9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Meiryo"/>
              </a:rPr>
              <a:t>データ: Sentinel-2 (ESA) / Microsoft Planetary Computer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000" y="4600000"/>
            <a:ext cx="9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Meiryo"/>
              </a:rPr>
              <a:t>分析: Python / rasterio / folium / uv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